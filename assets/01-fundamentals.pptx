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7"/>
  </p:notesMasterIdLst>
  <p:sldIdLst>
    <p:sldId id="502" r:id="rId2"/>
    <p:sldId id="503" r:id="rId3"/>
    <p:sldId id="504" r:id="rId4"/>
    <p:sldId id="505" r:id="rId22"/>
    <p:sldId id="256" r:id="rId5"/>
    <p:sldId id="257" r:id="rId6"/>
    <p:sldId id="506" r:id="rId46"/>
    <p:sldId id="258" r:id="rId7"/>
    <p:sldId id="259" r:id="rId8"/>
    <p:sldId id="274" r:id="rId23"/>
    <p:sldId id="507" r:id="rId47"/>
    <p:sldId id="260" r:id="rId9"/>
    <p:sldId id="279" r:id="rId10"/>
    <p:sldId id="262" r:id="rId11"/>
    <p:sldId id="263" r:id="rId12"/>
    <p:sldId id="508" r:id="rId48"/>
    <p:sldId id="278" r:id="rId13"/>
    <p:sldId id="265" r:id="rId14"/>
    <p:sldId id="266" r:id="rId15"/>
    <p:sldId id="509" r:id="rId49"/>
    <p:sldId id="267" r:id="rId16"/>
    <p:sldId id="268" r:id="rId17"/>
    <p:sldId id="269" r:id="rId18"/>
    <p:sldId id="510" r:id="rId50"/>
    <p:sldId id="270" r:id="rId19"/>
    <p:sldId id="271" r:id="rId20"/>
    <p:sldId id="511" r:id="rId51"/>
    <p:sldId id="272" r:id="rId21"/>
    <p:sldId id="512" r:id="rId52"/>
    <p:sldId id="275" r:id="rId24"/>
    <p:sldId id="276" r:id="rId25"/>
    <p:sldId id="277" r:id="rId26"/>
  </p:sldIdLst>
  <p:sldSz cx="12192000" cy="6858000"/>
  <p:notesSz cx="6858000" cy="12192000"/>
  <p:embeddedFontLst>
    <p:embeddedFont>
      <p:font typeface="Consolas" panose="020B0609020204030204" pitchFamily="49" charset="0"/>
      <p:regular r:id="rId28"/>
      <p:bold r:id="rId29"/>
      <p:italic r:id="rId30"/>
      <p:boldItalic r:id="rId31"/>
    </p:embeddedFont>
    <p:embeddedFont>
      <p:font typeface="IBM Plex Sans" panose="020B0503050203000203" pitchFamily="34" charset="0"/>
      <p:regular r:id="rId32"/>
    </p:embeddedFont>
    <p:embeddedFont>
      <p:font typeface="IBM Plex Sans Light" panose="020B0403050203000203" pitchFamily="34" charset="0"/>
      <p:regular r:id="rId33"/>
    </p:embeddedFont>
    <p:embeddedFont>
      <p:font typeface="Montserrat" panose="00000500000000000000" pitchFamily="2" charset="0"/>
      <p:regular r:id="rId34"/>
      <p:bold r:id="rId35"/>
      <p:italic r:id="rId36"/>
      <p:boldItalic r:id="rId37"/>
    </p:embeddedFont>
    <p:embeddedFont>
      <p:font typeface="Poppins" panose="00000500000000000000" pitchFamily="2" charset="0"/>
      <p:regular r:id="rId38"/>
    </p:embeddedFont>
    <p:embeddedFont>
      <p:font typeface="Public Sans Bold" panose="020B0604020202020204" charset="0"/>
      <p:regular r:id="rId39"/>
    </p:embeddedFont>
    <p:embeddedFont>
      <p:font typeface="Public Sans Light" panose="020B0604020202020204" charset="0"/>
      <p:regular r:id="rId40"/>
    </p:embeddedFont>
    <p:embeddedFont>
      <p:font typeface="Source Serif 4" panose="020B0604020202020204" charset="0"/>
      <p:regular r:id="rId4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8.xml"/><Relationship Id="rId8" Type="http://schemas.openxmlformats.org/officeDocument/2006/relationships/slide" Target="slides/slide9.xml"/><Relationship Id="rId9" Type="http://schemas.openxmlformats.org/officeDocument/2006/relationships/slide" Target="slides/slide12.xml"/><Relationship Id="rId10" Type="http://schemas.openxmlformats.org/officeDocument/2006/relationships/slide" Target="slides/slide13.xml"/><Relationship Id="rId11" Type="http://schemas.openxmlformats.org/officeDocument/2006/relationships/slide" Target="slides/slide14.xml"/><Relationship Id="rId12" Type="http://schemas.openxmlformats.org/officeDocument/2006/relationships/slide" Target="slides/slide15.xml"/><Relationship Id="rId13" Type="http://schemas.openxmlformats.org/officeDocument/2006/relationships/slide" Target="slides/slide17.xml"/><Relationship Id="rId14" Type="http://schemas.openxmlformats.org/officeDocument/2006/relationships/slide" Target="slides/slide18.xml"/><Relationship Id="rId15" Type="http://schemas.openxmlformats.org/officeDocument/2006/relationships/slide" Target="slides/slide19.xml"/><Relationship Id="rId16" Type="http://schemas.openxmlformats.org/officeDocument/2006/relationships/slide" Target="slides/slide21.xml"/><Relationship Id="rId17" Type="http://schemas.openxmlformats.org/officeDocument/2006/relationships/slide" Target="slides/slide22.xml"/><Relationship Id="rId18" Type="http://schemas.openxmlformats.org/officeDocument/2006/relationships/slide" Target="slides/slide23.xml"/><Relationship Id="rId19" Type="http://schemas.openxmlformats.org/officeDocument/2006/relationships/slide" Target="slides/slide25.xml"/><Relationship Id="rId20" Type="http://schemas.openxmlformats.org/officeDocument/2006/relationships/slide" Target="slides/slide26.xml"/><Relationship Id="rId21" Type="http://schemas.openxmlformats.org/officeDocument/2006/relationships/slide" Target="slides/slide28.xml"/><Relationship Id="rId22" Type="http://schemas.openxmlformats.org/officeDocument/2006/relationships/slide" Target="slides/slide4.xml"/><Relationship Id="rId23" Type="http://schemas.openxmlformats.org/officeDocument/2006/relationships/slide" Target="slides/slide10.xml"/><Relationship Id="rId24" Type="http://schemas.openxmlformats.org/officeDocument/2006/relationships/slide" Target="slides/slide30.xml"/><Relationship Id="rId25" Type="http://schemas.openxmlformats.org/officeDocument/2006/relationships/slide" Target="slides/slide31.xml"/><Relationship Id="rId26" Type="http://schemas.openxmlformats.org/officeDocument/2006/relationships/slide" Target="slides/slide32.xml"/><Relationship Id="rId27" Type="http://schemas.openxmlformats.org/officeDocument/2006/relationships/notesMaster" Target="notesMasters/notesMaster1.xml"/><Relationship Id="rId28" Type="http://schemas.openxmlformats.org/officeDocument/2006/relationships/font" Target="fonts/font1.fntdata"/><Relationship Id="rId29" Type="http://schemas.openxmlformats.org/officeDocument/2006/relationships/font" Target="fonts/font2.fntdata"/><Relationship Id="rId30" Type="http://schemas.openxmlformats.org/officeDocument/2006/relationships/font" Target="fonts/font3.fntdata"/><Relationship Id="rId31" Type="http://schemas.openxmlformats.org/officeDocument/2006/relationships/font" Target="fonts/font4.fntdata"/><Relationship Id="rId32" Type="http://schemas.openxmlformats.org/officeDocument/2006/relationships/font" Target="fonts/font5.fntdata"/><Relationship Id="rId33" Type="http://schemas.openxmlformats.org/officeDocument/2006/relationships/font" Target="fonts/font6.fntdata"/><Relationship Id="rId34" Type="http://schemas.openxmlformats.org/officeDocument/2006/relationships/font" Target="fonts/font7.fntdata"/><Relationship Id="rId35" Type="http://schemas.openxmlformats.org/officeDocument/2006/relationships/font" Target="fonts/font8.fntdata"/><Relationship Id="rId36" Type="http://schemas.openxmlformats.org/officeDocument/2006/relationships/font" Target="fonts/font9.fntdata"/><Relationship Id="rId37" Type="http://schemas.openxmlformats.org/officeDocument/2006/relationships/font" Target="fonts/font10.fntdata"/><Relationship Id="rId38" Type="http://schemas.openxmlformats.org/officeDocument/2006/relationships/font" Target="fonts/font11.fntdata"/><Relationship Id="rId39" Type="http://schemas.openxmlformats.org/officeDocument/2006/relationships/font" Target="fonts/font12.fntdata"/><Relationship Id="rId40" Type="http://schemas.openxmlformats.org/officeDocument/2006/relationships/font" Target="fonts/font13.fntdata"/><Relationship Id="rId41" Type="http://schemas.openxmlformats.org/officeDocument/2006/relationships/font" Target="fonts/font14.fntdata"/><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 Id="rId46" Type="http://schemas.openxmlformats.org/officeDocument/2006/relationships/slide" Target="slides/slide7.xml"/><Relationship Id="rId47" Type="http://schemas.openxmlformats.org/officeDocument/2006/relationships/slide" Target="slides/slide11.xml"/><Relationship Id="rId48" Type="http://schemas.openxmlformats.org/officeDocument/2006/relationships/slide" Target="slides/slide16.xml"/><Relationship Id="rId49" Type="http://schemas.openxmlformats.org/officeDocument/2006/relationships/slide" Target="slides/slide20.xml"/><Relationship Id="rId50" Type="http://schemas.openxmlformats.org/officeDocument/2006/relationships/slide" Target="slides/slide24.xml"/><Relationship Id="rId51" Type="http://schemas.openxmlformats.org/officeDocument/2006/relationships/slide" Target="slides/slide27.xml"/><Relationship Id="rId52"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39622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461A2-C3FB-8FF7-A183-A6C9154D3AB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E791D27-971C-48FE-7C44-479BE7AE811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017CC76-223D-4E1C-7685-BA68E3EA4724}"/>
              </a:ext>
            </a:extLst>
          </p:cNvPr>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de-DE" b="1"/>
              <a:t>Die Fast Lane Gruppe. </a:t>
            </a:r>
          </a:p>
          <a:p>
            <a:pPr marL="0" marR="0" lvl="0" indent="0" algn="l" defTabSz="914377" rtl="0" eaLnBrk="1" fontAlgn="auto" latinLnBrk="0" hangingPunct="1">
              <a:lnSpc>
                <a:spcPct val="100000"/>
              </a:lnSpc>
              <a:spcBef>
                <a:spcPts val="0"/>
              </a:spcBef>
              <a:spcAft>
                <a:spcPts val="0"/>
              </a:spcAft>
              <a:buClrTx/>
              <a:buSzTx/>
              <a:buFontTx/>
              <a:buNone/>
              <a:tabLst/>
              <a:defRPr/>
            </a:pPr>
            <a:endParaRPr lang="de-DE"/>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a:t>Fast Lane … Dienstleister u. Spezialist für High-End Technologie und Business Trainings</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IT Trainings zu den  unterschiedlichsten Herstellern wie Microsoft, Google, Cisco oder AWS. Und vielen weiteren wichtigen IT Herstellern. </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Sei es Cloud, Security, Netzwerk oder allgemein digitale Transformationsprojekte	</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Und das seit 2003.</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lang="de-DE"/>
          </a:p>
          <a:p>
            <a:pPr marL="0" marR="0" lvl="0" indent="0" algn="l" defTabSz="914377" rtl="0" eaLnBrk="1" fontAlgn="auto" latinLnBrk="0" hangingPunct="1">
              <a:lnSpc>
                <a:spcPct val="100000"/>
              </a:lnSpc>
              <a:spcBef>
                <a:spcPts val="0"/>
              </a:spcBef>
              <a:spcAft>
                <a:spcPts val="0"/>
              </a:spcAft>
              <a:buClrTx/>
              <a:buSzTx/>
              <a:buFontTx/>
              <a:buNone/>
              <a:tabLst/>
              <a:defRPr/>
            </a:pPr>
            <a:r>
              <a:rPr lang="de-DE"/>
              <a:t>Das spannende ist, dass die Fast Lane Gruppe bereits seit 2009 durchgängig zu den </a:t>
            </a:r>
            <a:r>
              <a:rPr lang="de-DE" sz="1200" b="1" i="0" kern="1200">
                <a:solidFill>
                  <a:schemeClr val="tx1"/>
                </a:solidFill>
                <a:effectLst/>
                <a:latin typeface="+mn-lt"/>
                <a:ea typeface="+mn-ea"/>
                <a:cs typeface="+mn-cs"/>
              </a:rPr>
              <a:t>Top 20 Unternehmen in der IT Trainingsbranche </a:t>
            </a:r>
            <a:r>
              <a:rPr lang="de-DE" sz="1200" b="0" i="0" kern="1200">
                <a:solidFill>
                  <a:schemeClr val="tx1"/>
                </a:solidFill>
                <a:effectLst/>
                <a:latin typeface="+mn-lt"/>
                <a:ea typeface="+mn-ea"/>
                <a:cs typeface="+mn-cs"/>
              </a:rPr>
              <a:t>weltweit zählt.</a:t>
            </a:r>
            <a:endParaRPr lang="de-DE"/>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lang="de-DE"/>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a:t>Aber auch Footprint ebenso im klassischen Professional Services Bereich für unsere wichtigsten Hersteller</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PreSales</a:t>
            </a:r>
            <a:r>
              <a:rPr lang="de-DE" sz="1200" b="0" i="0" kern="1200">
                <a:solidFill>
                  <a:schemeClr val="tx1"/>
                </a:solidFill>
                <a:effectLst/>
                <a:latin typeface="+mn-lt"/>
                <a:ea typeface="+mn-ea"/>
                <a:cs typeface="+mn-cs"/>
              </a:rPr>
              <a:t> Support, </a:t>
            </a:r>
            <a:r>
              <a:rPr lang="de-DE" sz="1200" b="0" i="0" kern="1200" err="1">
                <a:solidFill>
                  <a:schemeClr val="tx1"/>
                </a:solidFill>
                <a:effectLst/>
                <a:latin typeface="+mn-lt"/>
                <a:ea typeface="+mn-ea"/>
                <a:cs typeface="+mn-cs"/>
              </a:rPr>
              <a:t>Deployment</a:t>
            </a:r>
            <a:r>
              <a:rPr lang="de-DE" sz="1200" b="0" i="0" kern="1200">
                <a:solidFill>
                  <a:schemeClr val="tx1"/>
                </a:solidFill>
                <a:effectLst/>
                <a:latin typeface="+mn-lt"/>
                <a:ea typeface="+mn-ea"/>
                <a:cs typeface="+mn-cs"/>
              </a:rPr>
              <a:t> Services und Adoption Trainings</a:t>
            </a:r>
          </a:p>
          <a:p>
            <a:pPr marL="0" marR="0" lvl="0" indent="0" algn="l" defTabSz="914377" rtl="0" eaLnBrk="1" fontAlgn="auto" latinLnBrk="0" hangingPunct="1">
              <a:lnSpc>
                <a:spcPct val="100000"/>
              </a:lnSpc>
              <a:spcBef>
                <a:spcPts val="0"/>
              </a:spcBef>
              <a:spcAft>
                <a:spcPts val="0"/>
              </a:spcAft>
              <a:buClrTx/>
              <a:buSzTx/>
              <a:buFontTx/>
              <a:buNone/>
              <a:tabLst/>
              <a:defRPr/>
            </a:pPr>
            <a:endParaRPr lang="de-DE" sz="1200" b="0" i="0" kern="1200">
              <a:solidFill>
                <a:schemeClr val="tx1"/>
              </a:solidFill>
              <a:effectLst/>
              <a:latin typeface="+mn-lt"/>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endParaRPr lang="de-DE" sz="1200" b="0" i="0" kern="1200">
              <a:solidFill>
                <a:schemeClr val="tx1"/>
              </a:solidFill>
              <a:effectLst/>
              <a:latin typeface="+mn-lt"/>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r>
              <a:rPr lang="de-DE" sz="1200" b="1" i="0" kern="1200">
                <a:solidFill>
                  <a:schemeClr val="tx1"/>
                </a:solidFill>
                <a:effectLst/>
                <a:latin typeface="+mn-lt"/>
                <a:ea typeface="+mn-ea"/>
                <a:cs typeface="+mn-cs"/>
              </a:rPr>
              <a:t>Additional Information:</a:t>
            </a:r>
            <a:br>
              <a:rPr lang="de-DE" sz="1200" b="0" i="0" kern="1200">
                <a:solidFill>
                  <a:schemeClr val="tx1"/>
                </a:solidFill>
                <a:effectLst/>
                <a:latin typeface="+mn-lt"/>
                <a:ea typeface="+mn-ea"/>
                <a:cs typeface="+mn-cs"/>
              </a:rPr>
            </a:br>
            <a:r>
              <a:rPr lang="de-DE" sz="1200" b="0" i="0" kern="1200">
                <a:solidFill>
                  <a:schemeClr val="tx1"/>
                </a:solidFill>
                <a:effectLst/>
                <a:latin typeface="+mn-lt"/>
                <a:ea typeface="+mn-ea"/>
                <a:cs typeface="+mn-cs"/>
              </a:rPr>
              <a:t>Im Jahr 2021 sind wir zur „</a:t>
            </a:r>
            <a:r>
              <a:rPr lang="de-DE" sz="1200" b="0" i="0" kern="1200" err="1">
                <a:solidFill>
                  <a:schemeClr val="tx1"/>
                </a:solidFill>
                <a:effectLst/>
                <a:latin typeface="+mn-lt"/>
                <a:ea typeface="+mn-ea"/>
                <a:cs typeface="+mn-cs"/>
              </a:rPr>
              <a:t>most</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strategic</a:t>
            </a:r>
            <a:r>
              <a:rPr lang="de-DE" sz="1200" b="0" i="0" kern="1200">
                <a:solidFill>
                  <a:schemeClr val="tx1"/>
                </a:solidFill>
                <a:effectLst/>
                <a:latin typeface="+mn-lt"/>
                <a:ea typeface="+mn-ea"/>
                <a:cs typeface="+mn-cs"/>
              </a:rPr>
              <a:t> IT Education </a:t>
            </a:r>
            <a:r>
              <a:rPr lang="de-DE" sz="1200" b="0" i="0" kern="1200" err="1">
                <a:solidFill>
                  <a:schemeClr val="tx1"/>
                </a:solidFill>
                <a:effectLst/>
                <a:latin typeface="+mn-lt"/>
                <a:ea typeface="+mn-ea"/>
                <a:cs typeface="+mn-cs"/>
              </a:rPr>
              <a:t>company</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worldwide</a:t>
            </a:r>
            <a:r>
              <a:rPr lang="de-DE" sz="1200" b="0" i="0" kern="1200">
                <a:solidFill>
                  <a:schemeClr val="tx1"/>
                </a:solidFill>
                <a:effectLst/>
                <a:latin typeface="+mn-lt"/>
                <a:ea typeface="+mn-ea"/>
                <a:cs typeface="+mn-cs"/>
              </a:rPr>
              <a:t>“ von der IDC im „</a:t>
            </a:r>
            <a:r>
              <a:rPr lang="de-DE" sz="1200" b="0" i="0" kern="1200" err="1">
                <a:solidFill>
                  <a:schemeClr val="tx1"/>
                </a:solidFill>
                <a:effectLst/>
                <a:latin typeface="+mn-lt"/>
                <a:ea typeface="+mn-ea"/>
                <a:cs typeface="+mn-cs"/>
              </a:rPr>
              <a:t>magic</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quadrant</a:t>
            </a:r>
            <a:r>
              <a:rPr lang="de-DE" sz="1200" b="0" i="0" kern="1200">
                <a:solidFill>
                  <a:schemeClr val="tx1"/>
                </a:solidFill>
                <a:effectLst/>
                <a:latin typeface="+mn-lt"/>
                <a:ea typeface="+mn-ea"/>
                <a:cs typeface="+mn-cs"/>
              </a:rPr>
              <a:t>“ aufgeführt worden !</a:t>
            </a:r>
          </a:p>
          <a:p>
            <a:endParaRPr lang="de-DE"/>
          </a:p>
          <a:p>
            <a:pPr marL="171450" indent="-171450">
              <a:buFont typeface="Wingdings" panose="05000000000000000000" pitchFamily="2" charset="2"/>
              <a:buChar char="Ø"/>
            </a:pPr>
            <a:r>
              <a:rPr lang="de-DE"/>
              <a:t>1 </a:t>
            </a:r>
            <a:r>
              <a:rPr lang="de-DE" err="1"/>
              <a:t>mio</a:t>
            </a:r>
            <a:r>
              <a:rPr lang="de-DE"/>
              <a:t> Teilnehmer insgesamt seit bestehen, 50.000+ </a:t>
            </a:r>
            <a:r>
              <a:rPr lang="de-DE" err="1"/>
              <a:t>Students</a:t>
            </a:r>
            <a:r>
              <a:rPr lang="de-DE"/>
              <a:t> </a:t>
            </a:r>
            <a:r>
              <a:rPr lang="de-DE" err="1"/>
              <a:t>ww</a:t>
            </a:r>
            <a:r>
              <a:rPr lang="de-DE"/>
              <a:t> </a:t>
            </a:r>
            <a:r>
              <a:rPr lang="de-DE" err="1"/>
              <a:t>p.A</a:t>
            </a:r>
            <a:r>
              <a:rPr lang="de-DE"/>
              <a:t>, 20.000 in DE pro Jahr</a:t>
            </a:r>
          </a:p>
          <a:p>
            <a:endParaRPr lang="de-DE"/>
          </a:p>
        </p:txBody>
      </p:sp>
      <p:sp>
        <p:nvSpPr>
          <p:cNvPr id="4" name="Foliennummernplatzhalter 3">
            <a:extLst>
              <a:ext uri="{FF2B5EF4-FFF2-40B4-BE49-F238E27FC236}">
                <a16:creationId xmlns:a16="http://schemas.microsoft.com/office/drawing/2014/main" id="{E147C99C-1C3E-1038-E7AD-EE3A64ED031D}"/>
              </a:ext>
            </a:extLst>
          </p:cNvPr>
          <p:cNvSpPr>
            <a:spLocks noGrp="1"/>
          </p:cNvSpPr>
          <p:nvPr>
            <p:ph type="sldNum" sz="quarter" idx="5"/>
          </p:nvPr>
        </p:nvSpPr>
        <p:spPr/>
        <p:txBody>
          <a:bodyPr/>
          <a:lstStyle/>
          <a:p>
            <a:pPr marL="0" marR="0" lvl="0" indent="0" algn="l" defTabSz="342900" rtl="0" eaLnBrk="1" fontAlgn="auto" latinLnBrk="0" hangingPunct="1">
              <a:lnSpc>
                <a:spcPct val="100000"/>
              </a:lnSpc>
              <a:spcBef>
                <a:spcPts val="0"/>
              </a:spcBef>
              <a:spcAft>
                <a:spcPts val="0"/>
              </a:spcAft>
              <a:buClrTx/>
              <a:buSzTx/>
              <a:buFontTx/>
              <a:buNone/>
              <a:tabLst/>
              <a:defRPr/>
            </a:pPr>
            <a:fld id="{0B0D7EAB-36F5-E04E-BA34-9D312A17DA3C}" type="slidenum">
              <a:rPr kumimoji="0" lang="en-HR" sz="7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342900" rtl="0" eaLnBrk="1" fontAlgn="auto" latinLnBrk="0" hangingPunct="1">
                <a:lnSpc>
                  <a:spcPct val="100000"/>
                </a:lnSpc>
                <a:spcBef>
                  <a:spcPts val="0"/>
                </a:spcBef>
                <a:spcAft>
                  <a:spcPts val="0"/>
                </a:spcAft>
                <a:buClrTx/>
                <a:buSzTx/>
                <a:buFontTx/>
                <a:buNone/>
                <a:tabLst/>
                <a:defRPr/>
              </a:pPr>
              <a:t>1</a:t>
            </a:fld>
            <a:endParaRPr kumimoji="0" lang="en-HR" sz="7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089226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Alexander Kastil, integrations.at. Four practice areas from AI at Work to team enablement. Certifications: Agentic AI Business Solutions Architect, Azure AI App and Agent Developer Associate, DevOps Engineer Expert.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6951205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opening slide for the module: it sets out what the class covers first and where it pivots.</a:t>
            </a:r>
          </a:p>
          <a:p/>
          <a:p>
            <a:r>
              <a:t>Essentials: inline suggestions, chat interactions, prompting techniques, context engineering and multi-model selection are the core capabilities and foundational concepts of Copilot.</a:t>
            </a:r>
          </a:p>
          <a:p/>
          <a:p>
            <a:r>
              <a:t>Agent Mode: the module pivots early to Agent Mode, so you leave the fundamentals already driving a local agent through real, multi-step work.</a:t>
            </a:r>
          </a:p>
          <a:p/>
          <a:p>
            <a:r>
              <a:t>Guardrails: pull requests and code reviews, settings that keep secrets out of context, and a terminal that gives agents machine-readable output round out the module.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walks the path through the module's seven topics once, following on from the three themes of the title slide.</a:t>
            </a:r>
          </a:p>
          <a:p/>
          <a:p>
            <a:r>
              <a:t>Getting started: the path opens with Copilot's two modes and the settings that keep secrets out, then selecting a model by context size, cost and task, then what fills the context window.</a:t>
            </a:r>
          </a:p>
          <a:p/>
          <a:p>
            <a:r>
              <a:t>One place for AI-assisted coding: prompting techniques, inline suggestions, slash commands and context variables are taught together in a single topic.</a:t>
            </a:r>
          </a:p>
          <a:p/>
          <a:p>
            <a:r>
              <a:t>The pivot to Agent Mode: a local agent scaffolds a project, fixes an error and runs an update. This is where the class stops typing code and starts assigning work.</a:t>
            </a:r>
          </a:p>
          <a:p/>
          <a:p>
            <a:r>
              <a:t>Guardrails: the path finishes with pull requests and code reviews and the terminal the agent works in.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first topic starts with the two ways Copilot works, because the rest of the class is built on the difference.</a:t>
            </a:r>
          </a:p>
          <a:p/>
          <a:p>
            <a:r>
              <a:t>AI Assisted Coding: Copilot provides real-time completions and suggestions as you type.</a:t>
            </a:r>
          </a:p>
          <a:p/>
          <a:p>
            <a:r>
              <a:t>Accept or modify: you stay in control of each highlighted snippet, taking it as is or changing it directly.</a:t>
            </a:r>
          </a:p>
          <a:p/>
          <a:p>
            <a:r>
              <a:t>Agentic Software Engineering: specialized agents work autonomously toward an assigned goal instead of completing the line you are typing.</a:t>
            </a:r>
          </a:p>
          <a:p/>
          <a:p>
            <a:r>
              <a:t>Orchestration: agents orchestrate multiple tools and decisions to deliver complete solutions. The class introduces AI Assisted Coding quickly and focuses on this mode.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With the two modes clear, the next question is where Copilot is configured. Settings control Copilot behavior, inline suggestions, model selection and workspace consistency across a team.</a:t>
            </a:r>
          </a:p>
          <a:p/>
          <a:p>
            <a:r>
              <a:t>User settings: personal preferences that apply across all your workspaces.</a:t>
            </a:r>
          </a:p>
          <a:p/>
          <a:p>
            <a:r>
              <a:t>Workspace settings: .vscode/settings.json holds project-specific overrides, so the whole team works with the same configuration.</a:t>
            </a:r>
          </a:p>
          <a:p/>
          <a:p>
            <a:r>
              <a:t>Dev Container: .devcontainer/devcontainer.json gives a standardized environment with pre-configured extensions and tools.</a:t>
            </a:r>
          </a:p>
          <a:p/>
          <a:p>
            <a:r>
              <a:t>Two essential settings: github.copilot.enable switches Copilot on or off per language, and editor.inlineSuggest.enabled turns on inline suggestions.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opens model selection, which is a capability decision rather than a brand-name decision: context size, reasoning depth and cost per request.</a:t>
            </a:r>
          </a:p>
          <a:p/>
          <a:p>
            <a:r>
              <a:t>Built-in: built-in Copilot models need only a signed-in Copilot license and no extra configuration.</a:t>
            </a:r>
          </a:p>
          <a:p/>
          <a:p>
            <a:r>
              <a:t>BYOK: bring your own key lets you use your own API key without signing in to GitHub. Reach for it for air-gapped or offline work and direct billing.</a:t>
            </a:r>
          </a:p>
          <a:p/>
          <a:p>
            <a:r>
              <a:t>Custom Endpoint: you supply your endpoint URL and request shape, for self-hosted or proxied models behind your own gateway.</a:t>
            </a:r>
          </a:p>
          <a:p/>
          <a:p>
            <a:r>
              <a:t>Marketplace providers: a provider Copilot does not ship by default installs from the Marketplace like any other extension.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Once a model is reachable, the picker is where you tune it, and where model selection becomes a spending decision.</a:t>
            </a:r>
          </a:p>
          <a:p/>
          <a:p>
            <a:r>
              <a:t>1M-token context: supported Anthropic and OpenAI models can hold a large codebase, long conversation history and detailed instructions at once. A wider window costs more per request.</a:t>
            </a:r>
          </a:p>
          <a:p/>
          <a:p>
            <a:r>
              <a:t>Reasoning effort: context size and reasoning effort are chosen in the same place. Raise effort for hard debugging or design work and keep it low for routine edits.</a:t>
            </a:r>
          </a:p>
          <a:p/>
          <a:p>
            <a:r>
              <a:t>Cost beside the name: the budget impact of a choice is visible at the moment you make it. Hovering a response footer shows input, cached input and output tokens per model (1.135).</a:t>
            </a:r>
          </a:p>
          <a:p/>
          <a:p>
            <a:r>
              <a:t>One list: Copilot and Anthropic models share one list, so a deep-reasoning turn and a cheaper cleanup turn can use different providers in the same conversation.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5492591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BYOK has one trap worth a slide of its own, because it fails without an error.</a:t>
            </a:r>
          </a:p>
          <a:p/>
          <a:p>
            <a:r>
              <a:t>No GitHub sign-in: BYOK runs Copilot chat and agent sessions on your own key, which unlocks air-gapped and fully offline workflows.</a:t>
            </a:r>
          </a:p>
          <a:p/>
          <a:p>
            <a:r>
              <a:t>Inline suggestions: inline suggestions and Next Edit Suggestions still require a signed-in Copilot license. A BYOK-only setup gives you chat and agents but not ghost-text completions.</a:t>
            </a:r>
          </a:p>
          <a:p/>
          <a:p>
            <a:r>
              <a:t>Utility model: chat.utilityModel drives chat titles, commit messages and intent detection. These background tasks run on dedicated settings so they do not consume your strongest model.</a:t>
            </a:r>
          </a:p>
          <a:p/>
          <a:p>
            <a:r>
              <a:t>Silent stop: built-in utility defaults do not apply to a BYOK main model, so those tasks silently stop with no error. Set chat.byokUtilityModelDefault whenever you go BYOK.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last model slide covers the Custom Endpoint provider and tuning a single model.</a:t>
            </a:r>
          </a:p>
          <a:p/>
          <a:p>
            <a:r>
              <a:t>Custom Endpoint: the provider replaces the legacy OpenAI-compatible provider.</a:t>
            </a:r>
          </a:p>
          <a:p/>
          <a:p>
            <a:r>
              <a:t>Three request shapes: chat-completions for OpenAI-style chat APIs, responses for the OpenAI Responses API, and messages for Anthropic-style endpoints. Pick the shape your endpoint speaks and Copilot formats requests accordingly.</a:t>
            </a:r>
          </a:p>
          <a:p/>
          <a:p>
            <a:r>
              <a:t>modelOptions: temperature and top_p are set per model. Lower the temperature for deterministic refactors and raise it to explore alternatives; both can live in one workspace.</a:t>
            </a:r>
          </a:p>
          <a:p/>
          <a:p>
            <a:r>
              <a:t>Ollama: the previously built-in Ollama provider is deprecated. Install the official Ollama extension from the Marketplace to keep receiving updates.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After choosing a model, the next topic looks at what that model actually receives: the context window and the layers that fill it.</a:t>
            </a:r>
          </a:p>
          <a:p/>
          <a:p>
            <a:r>
              <a:t>Foundation: system instructions and tool definitions are provided by Copilot and form the base of every request.</a:t>
            </a:r>
          </a:p>
          <a:p/>
          <a:p>
            <a:r>
              <a:t>Custom instructions and skills: custom instructions provide explicit references to your project rules, and skills add specialized capabilities.</a:t>
            </a:r>
          </a:p>
          <a:p/>
          <a:p>
            <a:r>
              <a:t>User context: open files, selections and attached references supply the immediate problem details from the remaining budget.</a:t>
            </a:r>
          </a:p>
          <a:p/>
          <a:p>
            <a:r>
              <a:t>Conversation history: previous exchanges are carried forward. Every layer spends the same budget, whether it is Claude Haiku 4.5 with 200K tokens or Gemini 3 Pro with about 1,000,000.</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2559067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Knowing the layers leads to a decision about their order, because many of the models behind Copilot now cache the stable prefix of a request.</a:t>
            </a:r>
          </a:p>
          <a:p/>
          <a:p>
            <a:r>
              <a:t>Reused on the next turn: system instructions, tool definitions, custom instructions and large attached files are processed once and reused, so a repeated prefix costs less and returns faster.</a:t>
            </a:r>
          </a:p>
          <a:p/>
          <a:p>
            <a:r>
              <a:t>Order matters: put instructions and big reference files first, and let the volatile part, your latest question or current selection, come last.</a:t>
            </a:r>
          </a:p>
          <a:p/>
          <a:p>
            <a:r>
              <a:t>Invalidation: editing or reordering early context invalidates the cache, so a small change near the top can force the whole prefix to be reprocessed.</a:t>
            </a:r>
          </a:p>
          <a:p/>
          <a:p>
            <a:r>
              <a:t>Lower rate: cached tokens are billed at a lower rate, so a stable prefix is a budget decision as much as a quality one. The cost model is covered in the Governance module.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41583193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last context slide turns the layers into practice: compose the context deliberately for each task.</a:t>
            </a:r>
          </a:p>
          <a:p/>
          <a:p>
            <a:r>
              <a:t>Indicator: the context window indicator shows token usage as you work, so you can see how much of the budget is spent.</a:t>
            </a:r>
          </a:p>
          <a:p/>
          <a:p>
            <a:r>
              <a:t>What to attach: project instructions for naming conventions, libraries and patterns, relevant source files to ground suggestions, and code samples that show your style.</a:t>
            </a:r>
          </a:p>
          <a:p/>
          <a:p>
            <a:r>
              <a:t>Not every file: be intentional about what helps Copilot understand the specific problem. This keeps token usage efficient and puts the most relevant context first.</a:t>
            </a:r>
          </a:p>
          <a:p/>
          <a:p>
            <a:r>
              <a:t>ProTip: summarize your context into a feature-xxx.md file, start a new conversation and attach that file to get a fresh context window with the most relevant information.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5704105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topic brings the AI-assisted coding skills together, starting with prompting, the foundation of quality results.</a:t>
            </a:r>
          </a:p>
          <a:p/>
          <a:p>
            <a:r>
              <a:t>Few-Shot: provide example snippets showing the desired pattern, then ask Copilot to generate similar code for new scenarios.</a:t>
            </a:r>
          </a:p>
          <a:p/>
          <a:p>
            <a:r>
              <a:t>Chain-of-Thought: break complex problems into sequential steps and explain your reasoning for more logical solutions.</a:t>
            </a:r>
          </a:p>
          <a:p/>
          <a:p>
            <a:r>
              <a:t>Context-Based: include schema definitions, configuration files or existing code to give Copilot a complete picture.</a:t>
            </a:r>
          </a:p>
          <a:p/>
          <a:p>
            <a:r>
              <a:t>Instruction-Based: clear, structured instructions with specifications give consistent, predictable results.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7117159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Beyond the prompt text, two chat features steer a request: slash commands route intent, and context variables ground it in the workspace.</a:t>
            </a:r>
          </a:p>
          <a:p/>
          <a:p>
            <a:r>
              <a:t>Slash commands: /explain, /fix, /tests and /optimize route intent directly to the right capability without a full natural-language prompt. They combine well with a code selection.</a:t>
            </a:r>
          </a:p>
          <a:p/>
          <a:p>
            <a:r>
              <a:t>Workspace code: #file references a specific file, #selection the selected code, and #codebase gives codebase-wide context for architecture and patterns.</a:t>
            </a:r>
          </a:p>
          <a:p/>
          <a:p>
            <a:r>
              <a:t>Terminal: #terminalLastCommand references the last command run, and @terminal includes output or errors from the active terminal. The demo runs tasks-api with dotnet run, then sends fix #terminalLastCommand.</a:t>
            </a:r>
          </a:p>
          <a:p/>
          <a:p>
            <a:r>
              <a:t>URLs: #fetch fetches and includes content from URLs or external sources.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769194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#fetch demo shows a context variable scaffolding a whole project from an article.</a:t>
            </a:r>
          </a:p>
          <a:p/>
          <a:p>
            <a:r>
              <a:t>Fetch the docs: #fetch retrieves the Microsoft Agent Framework quick start from Microsoft Learn, so the code is written against current documentation.</a:t>
            </a:r>
          </a:p>
          <a:p/>
          <a:p>
            <a:r>
              <a:t>One prompt: it asks for a Python 3.12 hello world plus requirements.txt, an activated .venv, a Python .gitignore and a .env with PROJECT_ENDPOINT and MODEL_DEPLOYMENT.</a:t>
            </a:r>
          </a:p>
          <a:p/>
          <a:p>
            <a:r>
              <a:t>Run until fixed: the prompt tells the model to implement the sample and run it until all errors are fixed. That instruction is the small step into Agent Mode.</a:t>
            </a:r>
          </a:p>
          <a:p/>
          <a:p>
            <a:r>
              <a:t>Beginner readme: the result includes short instructions for running the app and for finding the .env values in Microsoft Foundry. The solution is in the maf-starter-solution folder.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40065671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the module pivots to Agent Mode, where a local agent works inside your VS Code session instead of suggesting code.</a:t>
            </a:r>
          </a:p>
          <a:p/>
          <a:p>
            <a:r>
              <a:t>Integration: the agent has direct access to workspace files, the terminal, editor state and npm scripts, with real-time feedback.</a:t>
            </a:r>
          </a:p>
          <a:p/>
          <a:p>
            <a:r>
              <a:t>Synchronous and blocking: it runs a single sequential task at a time. That makes it best for focused tasks, debugging and rapid iteration, but it blocks the editor and cannot parallelize.</a:t>
            </a:r>
          </a:p>
          <a:p/>
          <a:p>
            <a:r>
              <a:t>Local auth: it uses your Azure CLI credentials, Git tokens, SSH keys and environment variables, and reaches online resources through local tools such as Microsoft Learn MCP.</a:t>
            </a:r>
          </a:p>
          <a:p/>
          <a:p>
            <a:r>
              <a:t>Steering and queueing: correcting or stacking up messages while the agent runs is covered in module 3, in the Local Agents topic.</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5218852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demos put the local agent through real, multi-step work, each driven by a single prompt.</a:t>
            </a:r>
          </a:p>
          <a:p/>
          <a:p>
            <a:r>
              <a:t>Scaffold: the agent runs dotnet new webapi, removes the weather sample, adds an InstructionsController and Scalar UI, then checks the running API in the browser with Chrome DevTools MCP.</a:t>
            </a:r>
          </a:p>
          <a:p/>
          <a:p>
            <a:r>
              <a:t>Fix: starting from #terminalLastCommand, the agent moves a C# console app to keyless authentication with the Project Endpoint and DefaultAzureCredential.</a:t>
            </a:r>
          </a:p>
          <a:p/>
          <a:p>
            <a:r>
              <a:t>Update: the agent pins the agentfw_ agents to the latest Microsoft Agent Framework libraries, updates pyproject.toml and requirements.txt, and writes upgrade-report.md.</a:t>
            </a:r>
          </a:p>
          <a:p/>
          <a:p>
            <a:r>
              <a:t>Learn MCP and run until clean: each prompt sends the agent to Microsoft Learn MCP and to build, run and fix. Read one aloud: it is a task list, not a question.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1192144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With the agent writing code, the next topic is how that code gets reviewed: Copilot assists on both sides of a pull request.</a:t>
            </a:r>
          </a:p>
          <a:p/>
          <a:p>
            <a:r>
              <a:t>PR description: Copilot analyzes the diff and commit history to suggest a clear, well-structured description.</a:t>
            </a:r>
          </a:p>
          <a:p/>
          <a:p>
            <a:r>
              <a:t>What, why and impact: the description summarizes what changed, why, and the impact, which saves documentation time and keeps descriptions consistent across the team.</a:t>
            </a:r>
          </a:p>
          <a:p/>
          <a:p>
            <a:r>
              <a:t>Review feedback: during review Copilot identifies potential issues and suggests improvements, so reviewers catch bugs and inconsistencies more efficiently.</a:t>
            </a:r>
          </a:p>
          <a:p/>
          <a:p>
            <a:r>
              <a:t>Before merge: it explains complex logic and recommends best practices, so authors understand the suggestions and improve code quality before merge.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6665575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After the settings scopes, this slide covers keeping credentials out, and the key consideration is that Copilot only sees what you show it.</a:t>
            </a:r>
          </a:p>
          <a:p/>
          <a:p>
            <a:r>
              <a:t>What Copilot sees: open editor files, workspace content, terminal output shown in VS Code and whatever you attach to a chat. Keeping credentials out of that view is your job.</a:t>
            </a:r>
          </a:p>
          <a:p/>
          <a:p>
            <a:r>
              <a:t>.gitignore: store secrets in .env files and add them to .gitignore, so they are never tracked or committed.</a:t>
            </a:r>
          </a:p>
          <a:p/>
          <a:p>
            <a:r>
              <a:t>File patterns: github.copilot.enable set to false for .env, *.secrets and *.private turns Copilot off for those files in the editor.</a:t>
            </a:r>
          </a:p>
          <a:p/>
          <a:p>
            <a:r>
              <a:t>Placeholders and trust: custom instructions require placeholder values instead of real keys, and workspace trust limits extension functionality in untrusted projects.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868331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last topic is the terminal, because agents interact with the shell differently from humans.</a:t>
            </a:r>
          </a:p>
          <a:p/>
          <a:p>
            <a:r>
              <a:t>VSCODE_AGENT: when Copilot runs a command on your behalf, it sets VSCODE_AGENT in that command's environment.</a:t>
            </a:r>
          </a:p>
          <a:p/>
          <a:p>
            <a:r>
              <a:t>Machine output: a CLI that checks the variable can tell it is talking to an agent and emit stable, parseable text such as JSON or plain lines.</a:t>
            </a:r>
          </a:p>
          <a:p/>
          <a:p>
            <a:r>
              <a:t>Noise: progress spinners, ANSI color codes and interactive prompts can push the model toward wrong conclusions about whether a command succeeded. The payoff is fewer parsing mistakes.</a:t>
            </a:r>
          </a:p>
          <a:p/>
          <a:p>
            <a:r>
              <a:t>Your own terminal: run echo $VSCODE_AGENT yourself and it is empty, because you are a human, not an agent.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7734079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second terminal feature handles commands that produce far more output than a model needs, such as a full test run, a clean build or a large install.</a:t>
            </a:r>
          </a:p>
          <a:p/>
          <a:p>
            <a:r>
              <a:t>Before the context window: compression condenses verbose output before it enters the context window, so the model spends fewer tokens on boilerplate.</a:t>
            </a:r>
          </a:p>
          <a:p/>
          <a:p>
            <a:r>
              <a:t>What stays: failures, error messages, warnings and summary lines survive, across test runners, build tools, linters, Docker and package managers.</a:t>
            </a:r>
          </a:p>
          <a:p/>
          <a:p>
            <a:r>
              <a:t>What goes: progress bars, repeated success lines and download chatter are collapsed.</a:t>
            </a:r>
          </a:p>
          <a:p/>
          <a:p>
            <a:r>
              <a:t>No flags: you do not add flags or redirect output. The model sees a tight summary and reaches the real signal faster.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256315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with the habits the module was built around, from the first suggestion to the first assigned task.</a:t>
            </a:r>
          </a:p>
          <a:p/>
          <a:p>
            <a:r>
              <a:t>Pick the model: choose by context size, reasoning effort and cost, not by brand name.</a:t>
            </a:r>
          </a:p>
          <a:p/>
          <a:p>
            <a:r>
              <a:t>Shape the context: keep the prefix stable so caching pays off, and keep the context focused on what the task needs.</a:t>
            </a:r>
          </a:p>
          <a:p/>
          <a:p>
            <a:r>
              <a:t>Ground the request: slash commands route intent, and context variables point at the code, docs or terminal output that matter.</a:t>
            </a:r>
          </a:p>
          <a:p/>
          <a:p>
            <a:r>
              <a:t>Hand off and guard: give multi-step work to a local agent in Agent Mode, and keep secrets out with .gitignore, file patterns and custom instructions. Ask the room which task from their own week they would hand to Agent Mode first.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5603823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Intro Slide">
    <p:bg>
      <p:bgPr>
        <a:solidFill>
          <a:schemeClr val="bg1"/>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BFF5F0EB-5CD2-194F-BB8C-91CBF8948E37}"/>
              </a:ext>
            </a:extLst>
          </p:cNvPr>
          <p:cNvSpPr>
            <a:spLocks noGrp="1"/>
          </p:cNvSpPr>
          <p:nvPr>
            <p:ph type="pic" sz="quarter" idx="10" hasCustomPrompt="1"/>
          </p:nvPr>
        </p:nvSpPr>
        <p:spPr>
          <a:xfrm>
            <a:off x="0" y="0"/>
            <a:ext cx="12192000" cy="6858000"/>
          </a:xfrm>
          <a:prstGeom prst="rect">
            <a:avLst/>
          </a:prstGeom>
          <a:solidFill>
            <a:schemeClr val="tx1">
              <a:lumMod val="75000"/>
              <a:lumOff val="25000"/>
            </a:schemeClr>
          </a:solidFill>
          <a:ln>
            <a:noFill/>
          </a:ln>
        </p:spPr>
        <p:txBody>
          <a:bodyPr/>
          <a:lstStyle>
            <a:lvl1pPr marL="0" indent="0">
              <a:buNone/>
              <a:defRPr/>
            </a:lvl1pPr>
          </a:lstStyle>
          <a:p>
            <a:r>
              <a:rPr lang="en-HR"/>
              <a:t>Click or drag to add picture</a:t>
            </a:r>
          </a:p>
        </p:txBody>
      </p:sp>
      <p:sp>
        <p:nvSpPr>
          <p:cNvPr id="13" name="Text Placeholder 13">
            <a:extLst>
              <a:ext uri="{FF2B5EF4-FFF2-40B4-BE49-F238E27FC236}">
                <a16:creationId xmlns:a16="http://schemas.microsoft.com/office/drawing/2014/main" id="{128D6CBD-EAC7-0540-9B7E-CC16CC95FE7D}"/>
              </a:ext>
            </a:extLst>
          </p:cNvPr>
          <p:cNvSpPr>
            <a:spLocks noGrp="1"/>
          </p:cNvSpPr>
          <p:nvPr>
            <p:ph type="body" sz="quarter" idx="12"/>
          </p:nvPr>
        </p:nvSpPr>
        <p:spPr>
          <a:xfrm>
            <a:off x="334965" y="390742"/>
            <a:ext cx="5856831" cy="692471"/>
          </a:xfrm>
          <a:prstGeom prst="rect">
            <a:avLst/>
          </a:prstGeom>
        </p:spPr>
        <p:txBody>
          <a:bodyPr/>
          <a:lstStyle>
            <a:lvl1pPr marL="0" indent="0">
              <a:buNone/>
              <a:defRPr sz="4400" b="1">
                <a:solidFill>
                  <a:schemeClr val="bg1"/>
                </a:solidFill>
                <a:latin typeface="IBM Plex Sans" panose="020B0503050203000203" pitchFamily="34" charset="0"/>
              </a:defRPr>
            </a:lvl1pPr>
          </a:lstStyle>
          <a:p>
            <a:pPr lvl="0"/>
            <a:endParaRPr lang="en-HR"/>
          </a:p>
        </p:txBody>
      </p:sp>
      <p:sp>
        <p:nvSpPr>
          <p:cNvPr id="15" name="Text Placeholder 13">
            <a:extLst>
              <a:ext uri="{FF2B5EF4-FFF2-40B4-BE49-F238E27FC236}">
                <a16:creationId xmlns:a16="http://schemas.microsoft.com/office/drawing/2014/main" id="{192EB840-6AE9-194D-B55E-C0698CCD4788}"/>
              </a:ext>
            </a:extLst>
          </p:cNvPr>
          <p:cNvSpPr>
            <a:spLocks noGrp="1"/>
          </p:cNvSpPr>
          <p:nvPr>
            <p:ph type="body" sz="quarter" idx="13"/>
          </p:nvPr>
        </p:nvSpPr>
        <p:spPr>
          <a:xfrm>
            <a:off x="334965" y="1122467"/>
            <a:ext cx="5856831" cy="3593431"/>
          </a:xfrm>
          <a:prstGeom prst="rect">
            <a:avLst/>
          </a:prstGeom>
        </p:spPr>
        <p:txBody>
          <a:bodyPr/>
          <a:lstStyle>
            <a:lvl1pPr marL="0" indent="0">
              <a:buNone/>
              <a:defRPr sz="4400" b="0">
                <a:solidFill>
                  <a:srgbClr val="09A9AB"/>
                </a:solidFill>
                <a:latin typeface="IBM Plex Sans" panose="020B0503050203000203" pitchFamily="34" charset="0"/>
              </a:defRPr>
            </a:lvl1pPr>
          </a:lstStyle>
          <a:p>
            <a:pPr lvl="0"/>
            <a:endParaRPr lang="en-HR"/>
          </a:p>
        </p:txBody>
      </p:sp>
      <p:sp>
        <p:nvSpPr>
          <p:cNvPr id="17" name="Text Placeholder 16">
            <a:extLst>
              <a:ext uri="{FF2B5EF4-FFF2-40B4-BE49-F238E27FC236}">
                <a16:creationId xmlns:a16="http://schemas.microsoft.com/office/drawing/2014/main" id="{A54B9BAF-8941-AB4D-89A7-466A5BA376C2}"/>
              </a:ext>
            </a:extLst>
          </p:cNvPr>
          <p:cNvSpPr>
            <a:spLocks noGrp="1"/>
          </p:cNvSpPr>
          <p:nvPr>
            <p:ph type="body" sz="quarter" idx="14" hasCustomPrompt="1"/>
          </p:nvPr>
        </p:nvSpPr>
        <p:spPr>
          <a:xfrm>
            <a:off x="334965" y="5989388"/>
            <a:ext cx="5856831" cy="254659"/>
          </a:xfrm>
          <a:prstGeom prst="rect">
            <a:avLst/>
          </a:prstGeom>
        </p:spPr>
        <p:txBody>
          <a:bodyPr/>
          <a:lstStyle>
            <a:lvl1pPr marL="0" indent="0">
              <a:buNone/>
              <a:defRPr sz="1400" b="1">
                <a:solidFill>
                  <a:schemeClr val="bg1"/>
                </a:solidFill>
                <a:latin typeface="IBM Plex Sans" panose="020B0503050203000203" pitchFamily="34" charset="0"/>
              </a:defRPr>
            </a:lvl1pPr>
            <a:lvl2pPr>
              <a:defRPr sz="1400">
                <a:latin typeface="IBM Plex Sans" panose="020B0503050203000203" pitchFamily="34" charset="0"/>
              </a:defRPr>
            </a:lvl2pPr>
            <a:lvl3pPr>
              <a:defRPr sz="1400">
                <a:latin typeface="IBM Plex Sans" panose="020B0503050203000203" pitchFamily="34" charset="0"/>
              </a:defRPr>
            </a:lvl3pPr>
            <a:lvl4pPr>
              <a:defRPr sz="1400">
                <a:latin typeface="IBM Plex Sans" panose="020B0503050203000203" pitchFamily="34" charset="0"/>
              </a:defRPr>
            </a:lvl4pPr>
            <a:lvl5pPr>
              <a:defRPr sz="1400">
                <a:latin typeface="IBM Plex Sans" panose="020B0503050203000203" pitchFamily="34" charset="0"/>
              </a:defRPr>
            </a:lvl5pPr>
          </a:lstStyle>
          <a:p>
            <a:pPr lvl="0"/>
            <a:r>
              <a:rPr lang="en-HR"/>
              <a:t>Name Surname</a:t>
            </a:r>
          </a:p>
        </p:txBody>
      </p:sp>
      <p:sp>
        <p:nvSpPr>
          <p:cNvPr id="18" name="Text Placeholder 16">
            <a:extLst>
              <a:ext uri="{FF2B5EF4-FFF2-40B4-BE49-F238E27FC236}">
                <a16:creationId xmlns:a16="http://schemas.microsoft.com/office/drawing/2014/main" id="{FBA33DA8-0E61-0B43-9081-719F5B2D9FA9}"/>
              </a:ext>
            </a:extLst>
          </p:cNvPr>
          <p:cNvSpPr>
            <a:spLocks noGrp="1"/>
          </p:cNvSpPr>
          <p:nvPr>
            <p:ph type="body" sz="quarter" idx="15" hasCustomPrompt="1"/>
          </p:nvPr>
        </p:nvSpPr>
        <p:spPr>
          <a:xfrm>
            <a:off x="334965" y="6283301"/>
            <a:ext cx="5856831" cy="254659"/>
          </a:xfrm>
          <a:prstGeom prst="rect">
            <a:avLst/>
          </a:prstGeom>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400" b="0">
                <a:solidFill>
                  <a:schemeClr val="bg1"/>
                </a:solidFill>
                <a:latin typeface="IBM Plex Sans" panose="020B0503050203000203" pitchFamily="34" charset="0"/>
              </a:defRPr>
            </a:lvl1pPr>
            <a:lvl2pPr>
              <a:defRPr sz="1400">
                <a:latin typeface="IBM Plex Sans" panose="020B0503050203000203" pitchFamily="34" charset="0"/>
              </a:defRPr>
            </a:lvl2pPr>
            <a:lvl3pPr>
              <a:defRPr sz="1400">
                <a:latin typeface="IBM Plex Sans" panose="020B0503050203000203" pitchFamily="34" charset="0"/>
              </a:defRPr>
            </a:lvl3pPr>
            <a:lvl4pPr>
              <a:defRPr sz="1400">
                <a:latin typeface="IBM Plex Sans" panose="020B0503050203000203" pitchFamily="34" charset="0"/>
              </a:defRPr>
            </a:lvl4pPr>
            <a:lvl5pPr>
              <a:defRPr sz="1400">
                <a:latin typeface="IBM Plex Sans" panose="020B0503050203000203" pitchFamily="34" charset="0"/>
              </a:defRPr>
            </a:lvl5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400">
                <a:solidFill>
                  <a:srgbClr val="FFFFFF"/>
                </a:solidFill>
                <a:latin typeface="IBM Plex Sans Light" panose="020B0403050203000203" pitchFamily="34" charset="0"/>
                <a:ea typeface="Verdana" panose="020B0604030504040204" pitchFamily="34" charset="0"/>
                <a:cs typeface="Verdana" panose="020B0604030504040204" pitchFamily="34" charset="0"/>
              </a:rPr>
              <a:t>Global Director Digital Strategy</a:t>
            </a:r>
          </a:p>
          <a:p>
            <a:pPr lvl="0"/>
            <a:endParaRPr lang="en-HR"/>
          </a:p>
        </p:txBody>
      </p:sp>
      <p:pic>
        <p:nvPicPr>
          <p:cNvPr id="9" name="Picture 8">
            <a:extLst>
              <a:ext uri="{FF2B5EF4-FFF2-40B4-BE49-F238E27FC236}">
                <a16:creationId xmlns:a16="http://schemas.microsoft.com/office/drawing/2014/main" id="{F7804F17-E6E2-C546-9FB7-F619A6FF900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40867" y="6155029"/>
            <a:ext cx="1716171" cy="255600"/>
          </a:xfrm>
          <a:prstGeom prst="rect">
            <a:avLst/>
          </a:prstGeom>
        </p:spPr>
      </p:pic>
    </p:spTree>
    <p:extLst>
      <p:ext uri="{BB962C8B-B14F-4D97-AF65-F5344CB8AC3E}">
        <p14:creationId xmlns:p14="http://schemas.microsoft.com/office/powerpoint/2010/main" val="26665317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5364454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3.jpeg"/><Relationship Id="rId4" Type="http://schemas.openxmlformats.org/officeDocument/2006/relationships/image" Target="../media/image4.png"/><Relationship Id="rId5" Type="http://schemas.openxmlformats.org/officeDocument/2006/relationships/image" Target="../media/image2.emf"/><Relationship Id="rId6"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4.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5.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6.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7.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2.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8.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9.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0.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1.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2.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3.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4.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5.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6.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7.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8.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9.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0.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3.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4.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B642C-D847-89BF-1014-698D4947DFA1}"/>
            </a:ext>
          </a:extLst>
        </p:cNvPr>
        <p:cNvGrpSpPr/>
        <p:nvPr/>
      </p:nvGrpSpPr>
      <p:grpSpPr>
        <a:xfrm>
          <a:off x="0" y="0"/>
          <a:ext cx="0" cy="0"/>
          <a:chOff x="0" y="0"/>
          <a:chExt cx="0" cy="0"/>
        </a:xfrm>
      </p:grpSpPr>
      <p:pic>
        <p:nvPicPr>
          <p:cNvPr id="8" name="Picture Placeholder 15" descr="Woman walking in office">
            <a:extLst>
              <a:ext uri="{FF2B5EF4-FFF2-40B4-BE49-F238E27FC236}">
                <a16:creationId xmlns:a16="http://schemas.microsoft.com/office/drawing/2014/main" id="{92CB83EA-0659-E370-8CB8-52A704AFB40A}"/>
              </a:ext>
            </a:extLst>
          </p:cNvPr>
          <p:cNvPicPr>
            <a:picLocks noGrp="1" noChangeAspect="1"/>
          </p:cNvPicPr>
          <p:nvPr>
            <p:ph type="pic" sz="quarter" idx="10"/>
          </p:nvPr>
        </p:nvPicPr>
        <p:blipFill rotWithShape="1">
          <a:blip r:embed="rId3" cstate="screen">
            <a:extLst>
              <a:ext uri="{28A0092B-C50C-407E-A947-70E740481C1C}">
                <a14:useLocalDpi xmlns:a14="http://schemas.microsoft.com/office/drawing/2010/main"/>
              </a:ext>
            </a:extLst>
          </a:blip>
          <a:srcRect/>
          <a:stretch/>
        </p:blipFill>
        <p:spPr>
          <a:xfrm>
            <a:off x="5756109" y="1"/>
            <a:ext cx="6435892" cy="6858000"/>
          </a:xfrm>
          <a:ln>
            <a:noFill/>
          </a:ln>
        </p:spPr>
      </p:pic>
      <p:pic>
        <p:nvPicPr>
          <p:cNvPr id="9" name="Picture 8" descr="Background pattern&#10;&#10;Description automatically generated">
            <a:extLst>
              <a:ext uri="{FF2B5EF4-FFF2-40B4-BE49-F238E27FC236}">
                <a16:creationId xmlns:a16="http://schemas.microsoft.com/office/drawing/2014/main" id="{CAAB5C21-DEC6-1D47-0353-AD276084FCB8}"/>
              </a:ext>
            </a:extLst>
          </p:cNvPr>
          <p:cNvPicPr>
            <a:picLocks noChangeAspect="1"/>
          </p:cNvPicPr>
          <p:nvPr/>
        </p:nvPicPr>
        <p:blipFill rotWithShape="1">
          <a:blip r:embed="rId4" cstate="screen">
            <a:alphaModFix/>
            <a:extLst>
              <a:ext uri="{28A0092B-C50C-407E-A947-70E740481C1C}">
                <a14:useLocalDpi xmlns:a14="http://schemas.microsoft.com/office/drawing/2010/main"/>
              </a:ext>
            </a:extLst>
          </a:blip>
          <a:srcRect/>
          <a:stretch/>
        </p:blipFill>
        <p:spPr>
          <a:xfrm>
            <a:off x="12073020" y="1"/>
            <a:ext cx="118981" cy="6858000"/>
          </a:xfrm>
          <a:prstGeom prst="rect">
            <a:avLst/>
          </a:prstGeom>
          <a:effectLst/>
        </p:spPr>
      </p:pic>
      <p:sp>
        <p:nvSpPr>
          <p:cNvPr id="3" name="Text Placeholder 2">
            <a:extLst>
              <a:ext uri="{FF2B5EF4-FFF2-40B4-BE49-F238E27FC236}">
                <a16:creationId xmlns:a16="http://schemas.microsoft.com/office/drawing/2014/main" id="{168D64F3-EA49-4D44-720E-6DEF74D4F314}"/>
              </a:ext>
            </a:extLst>
          </p:cNvPr>
          <p:cNvSpPr>
            <a:spLocks noGrp="1"/>
          </p:cNvSpPr>
          <p:nvPr>
            <p:ph type="body" sz="quarter" idx="12"/>
          </p:nvPr>
        </p:nvSpPr>
        <p:spPr>
          <a:xfrm>
            <a:off x="334965" y="1143000"/>
            <a:ext cx="5856831" cy="692471"/>
          </a:xfrm>
        </p:spPr>
        <p:txBody>
          <a:bodyPr/>
          <a:lstStyle/>
          <a:p>
            <a:r>
              <a:rPr lang="en-GB">
                <a:solidFill>
                  <a:srgbClr val="09A9AB"/>
                </a:solidFill>
              </a:rPr>
              <a:t>Fast Lane Group</a:t>
            </a:r>
          </a:p>
          <a:p>
            <a:endParaRPr lang="en-HR">
              <a:solidFill>
                <a:srgbClr val="09A9AB"/>
              </a:solidFill>
            </a:endParaRPr>
          </a:p>
        </p:txBody>
      </p:sp>
      <p:sp>
        <p:nvSpPr>
          <p:cNvPr id="4" name="Text Placeholder 3">
            <a:extLst>
              <a:ext uri="{FF2B5EF4-FFF2-40B4-BE49-F238E27FC236}">
                <a16:creationId xmlns:a16="http://schemas.microsoft.com/office/drawing/2014/main" id="{CE056563-3889-E68E-51A3-F6FD61A4B2A9}"/>
              </a:ext>
            </a:extLst>
          </p:cNvPr>
          <p:cNvSpPr>
            <a:spLocks noGrp="1"/>
          </p:cNvSpPr>
          <p:nvPr>
            <p:ph type="body" sz="quarter" idx="13"/>
          </p:nvPr>
        </p:nvSpPr>
        <p:spPr>
          <a:xfrm>
            <a:off x="334964" y="1908623"/>
            <a:ext cx="5108907" cy="1188720"/>
          </a:xfrm>
        </p:spPr>
        <p:txBody>
          <a:bodyPr/>
          <a:lstStyle/>
          <a:p>
            <a:pPr>
              <a:lnSpc>
                <a:spcPct val="110000"/>
              </a:lnSpc>
              <a:spcBef>
                <a:spcPts val="0"/>
              </a:spcBef>
            </a:pPr>
            <a:r>
              <a:rPr lang="en-GB" sz="3200">
                <a:solidFill>
                  <a:srgbClr val="04282E"/>
                </a:solidFill>
              </a:rPr>
              <a:t>Worldwide Education &amp;</a:t>
            </a:r>
          </a:p>
          <a:p>
            <a:pPr>
              <a:lnSpc>
                <a:spcPct val="110000"/>
              </a:lnSpc>
              <a:spcBef>
                <a:spcPts val="0"/>
              </a:spcBef>
            </a:pPr>
            <a:r>
              <a:rPr lang="en-GB" sz="3200">
                <a:solidFill>
                  <a:srgbClr val="04282E"/>
                </a:solidFill>
              </a:rPr>
              <a:t>Professional Services</a:t>
            </a:r>
          </a:p>
          <a:p>
            <a:pPr>
              <a:lnSpc>
                <a:spcPct val="110000"/>
              </a:lnSpc>
              <a:spcBef>
                <a:spcPts val="0"/>
              </a:spcBef>
            </a:pPr>
            <a:endParaRPr lang="en-HR">
              <a:solidFill>
                <a:srgbClr val="04282E"/>
              </a:solidFill>
            </a:endParaRPr>
          </a:p>
        </p:txBody>
      </p:sp>
      <p:pic>
        <p:nvPicPr>
          <p:cNvPr id="10" name="Picture 9">
            <a:extLst>
              <a:ext uri="{FF2B5EF4-FFF2-40B4-BE49-F238E27FC236}">
                <a16:creationId xmlns:a16="http://schemas.microsoft.com/office/drawing/2014/main" id="{B73A0D74-6908-2F97-B10F-2125282EE6C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140867" y="6155029"/>
            <a:ext cx="1716171" cy="255600"/>
          </a:xfrm>
          <a:prstGeom prst="rect">
            <a:avLst/>
          </a:prstGeom>
        </p:spPr>
      </p:pic>
      <p:sp>
        <p:nvSpPr>
          <p:cNvPr id="14" name="Text Placeholder 5">
            <a:extLst>
              <a:ext uri="{FF2B5EF4-FFF2-40B4-BE49-F238E27FC236}">
                <a16:creationId xmlns:a16="http://schemas.microsoft.com/office/drawing/2014/main" id="{F9F0E5C2-05DA-E683-5802-C835061B32C9}"/>
              </a:ext>
            </a:extLst>
          </p:cNvPr>
          <p:cNvSpPr>
            <a:spLocks noGrp="1"/>
          </p:cNvSpPr>
          <p:nvPr>
            <p:ph type="body" sz="quarter" idx="15"/>
          </p:nvPr>
        </p:nvSpPr>
        <p:spPr>
          <a:xfrm>
            <a:off x="334965" y="6283301"/>
            <a:ext cx="5856831" cy="254659"/>
          </a:xfrm>
        </p:spPr>
        <p:txBody>
          <a:bodyPr lIns="91440" tIns="45720" rIns="91440" bIns="45720" anchor="t"/>
          <a:lstStyle/>
          <a:p>
            <a:r>
              <a:rPr lang="en-GB" b="0" sz="1050">
                <a:solidFill>
                  <a:schemeClr val="tx1"/>
                </a:solidFill>
                <a:latin typeface="IBM Plex Sans"/>
              </a:rPr>
              <a:t>www.flane.de</a:t>
            </a:r>
            <a:endParaRPr lang="en-GB" b="0" sz="1050">
              <a:solidFill>
                <a:schemeClr val="tx1"/>
              </a:solidFill>
            </a:endParaRPr>
          </a:p>
          <a:p>
            <a:endParaRPr lang="en-HR" sz="1050" b="0">
              <a:solidFill>
                <a:schemeClr val="tx1"/>
              </a:solidFill>
            </a:endParaRPr>
          </a:p>
        </p:txBody>
      </p:sp>
      <p:pic>
        <p:nvPicPr>
          <p:cNvPr id="2" name="Grafik 1" descr="Ein Bild, das Text, Screenshot, Schrift, Logo enthält.&#10;&#10;KI-generierte Inhalte können fehlerhaft sein.">
            <a:extLst>
              <a:ext uri="{FF2B5EF4-FFF2-40B4-BE49-F238E27FC236}">
                <a16:creationId xmlns:a16="http://schemas.microsoft.com/office/drawing/2014/main" id="{44898A48-153F-AE4B-CCD7-54A6700C10AC}"/>
              </a:ext>
            </a:extLst>
          </p:cNvPr>
          <p:cNvPicPr>
            <a:picLocks noChangeAspect="1"/>
          </p:cNvPicPr>
          <p:nvPr/>
        </p:nvPicPr>
        <p:blipFill>
          <a:blip r:embed="rId6"/>
          <a:stretch>
            <a:fillRect/>
          </a:stretch>
        </p:blipFill>
        <p:spPr>
          <a:xfrm>
            <a:off x="405687" y="3814083"/>
            <a:ext cx="2718708" cy="2013469"/>
          </a:xfrm>
          <a:prstGeom prst="rect">
            <a:avLst/>
          </a:prstGeom>
        </p:spPr>
      </p:pic>
    </p:spTree>
    <p:extLst>
      <p:ext uri="{BB962C8B-B14F-4D97-AF65-F5344CB8AC3E}">
        <p14:creationId xmlns:p14="http://schemas.microsoft.com/office/powerpoint/2010/main" val="19813655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8127999" y="0"/>
            <a:ext cx="4064000" cy="6857999"/>
          </a:xfrm>
          <a:prstGeom prst="rect">
            <a:avLst/>
          </a:prstGeom>
          <a:gradFill rotWithShape="1">
            <a:gsLst>
              <a:gs pos="0">
                <a:srgbClr val="353D40"/>
              </a:gs>
              <a:gs pos="55000">
                <a:srgbClr val="2D3436"/>
              </a:gs>
              <a:gs pos="100000">
                <a:srgbClr val="262C2E"/>
              </a:gs>
            </a:gsLst>
            <a:lin ang="4200000" scaled="0"/>
          </a:gradFill>
          <a:ln/>
        </p:spPr>
        <p:txBody>
          <a:bodyPr/>
          <a:lstStyle/>
          <a:p>
            <a:endParaRPr lang="en-AT"/>
          </a:p>
        </p:txBody>
      </p:sp>
      <p:sp>
        <p:nvSpPr>
          <p:cNvPr id="3" name="Shape 1"/>
          <p:cNvSpPr/>
          <p:nvPr/>
        </p:nvSpPr>
        <p:spPr>
          <a:xfrm>
            <a:off x="8127999" y="0"/>
            <a:ext cx="38089" cy="6857999"/>
          </a:xfrm>
          <a:prstGeom prst="rect">
            <a:avLst/>
          </a:prstGeom>
          <a:solidFill>
            <a:srgbClr val="D4B483"/>
          </a:solidFill>
          <a:ln/>
        </p:spPr>
        <p:txBody>
          <a:bodyPr/>
          <a:lstStyle/>
          <a:p>
            <a:endParaRPr lang="en-AT"/>
          </a:p>
        </p:txBody>
      </p:sp>
      <p:pic>
        <p:nvPicPr>
          <p:cNvPr id="4" name="Image 0" descr="integrations logo"/>
          <p:cNvPicPr>
            <a:picLocks noChangeAspect="1"/>
          </p:cNvPicPr>
          <p:nvPr/>
        </p:nvPicPr>
        <p:blipFill>
          <a:blip r:embed="rId3"/>
          <a:srcRect l="-23" r="-23"/>
          <a:stretch/>
        </p:blipFill>
        <p:spPr>
          <a:xfrm>
            <a:off x="8889999" y="457178"/>
            <a:ext cx="2540000" cy="527017"/>
          </a:xfrm>
          <a:prstGeom prst="rect">
            <a:avLst/>
          </a:prstGeom>
        </p:spPr>
      </p:pic>
      <p:sp>
        <p:nvSpPr>
          <p:cNvPr id="5" name="Text 2"/>
          <p:cNvSpPr/>
          <p:nvPr/>
        </p:nvSpPr>
        <p:spPr>
          <a:xfrm>
            <a:off x="8590279" y="1079500"/>
            <a:ext cx="3139440" cy="391186"/>
          </a:xfrm>
          <a:prstGeom prst="rect">
            <a:avLst/>
          </a:prstGeom>
          <a:noFill/>
          <a:ln/>
        </p:spPr>
        <p:txBody>
          <a:bodyPr wrap="square" lIns="0" tIns="0" rIns="0" bIns="0" rtlCol="0" anchor="t">
            <a:normAutofit/>
          </a:bodyPr>
          <a:lstStyle/>
          <a:p>
            <a:pPr marL="0" indent="0" algn="ctr">
              <a:lnSpc>
                <a:spcPts val="1440"/>
              </a:lnSpc>
              <a:buNone/>
            </a:pPr>
            <a:r>
              <a:rPr lang="en-US" sz="1200" kern="0" spc="200" dirty="0">
                <a:solidFill>
                  <a:srgbClr val="C9CFD3"/>
                </a:solidFill>
                <a:latin typeface="Poppins" pitchFamily="34" charset="0"/>
                <a:ea typeface="Poppins" pitchFamily="34" charset="-122"/>
                <a:cs typeface="Poppins" pitchFamily="34" charset="-120"/>
              </a:rPr>
              <a:t>AGENTIC AI CONSULTING · VIENNA</a:t>
            </a:r>
            <a:endParaRPr lang="en-US" sz="1200" dirty="0"/>
          </a:p>
        </p:txBody>
      </p:sp>
      <p:pic>
        <p:nvPicPr>
          <p:cNvPr id="6" name="Image 1" descr="Portrait of Alexander Kastil"/>
          <p:cNvPicPr>
            <a:picLocks noChangeAspect="1"/>
          </p:cNvPicPr>
          <p:nvPr/>
        </p:nvPicPr>
        <p:blipFill>
          <a:blip r:embed="rId4"/>
          <a:srcRect/>
          <a:stretch/>
        </p:blipFill>
        <p:spPr>
          <a:xfrm>
            <a:off x="8953499" y="1549356"/>
            <a:ext cx="2413000" cy="2413000"/>
          </a:xfrm>
          <a:prstGeom prst="ellipse">
            <a:avLst/>
          </a:prstGeom>
        </p:spPr>
      </p:pic>
      <p:pic>
        <p:nvPicPr>
          <p:cNvPr id="7" name="Image 2" descr="Microsoft Certified: Agentic AI Business Solutions Architect"/>
          <p:cNvPicPr>
            <a:picLocks noChangeAspect="1"/>
          </p:cNvPicPr>
          <p:nvPr/>
        </p:nvPicPr>
        <p:blipFill>
          <a:blip r:embed="rId5"/>
          <a:srcRect l="-86" r="-86"/>
          <a:stretch/>
        </p:blipFill>
        <p:spPr>
          <a:xfrm>
            <a:off x="8718517" y="4267178"/>
            <a:ext cx="762000" cy="812767"/>
          </a:xfrm>
          <a:prstGeom prst="rect">
            <a:avLst/>
          </a:prstGeom>
        </p:spPr>
      </p:pic>
      <p:pic>
        <p:nvPicPr>
          <p:cNvPr id="8" name="Image 3" descr="Microsoft Certified: Azure AI App and Agent Developer Associate"/>
          <p:cNvPicPr>
            <a:picLocks noChangeAspect="1"/>
          </p:cNvPicPr>
          <p:nvPr/>
        </p:nvPicPr>
        <p:blipFill>
          <a:blip r:embed="rId6"/>
          <a:srcRect t="-25" b="-25"/>
          <a:stretch/>
        </p:blipFill>
        <p:spPr>
          <a:xfrm>
            <a:off x="9734517" y="4267178"/>
            <a:ext cx="806428" cy="812767"/>
          </a:xfrm>
          <a:prstGeom prst="rect">
            <a:avLst/>
          </a:prstGeom>
        </p:spPr>
      </p:pic>
      <p:pic>
        <p:nvPicPr>
          <p:cNvPr id="9" name="Image 4" descr="Microsoft Certified: DevOps Engineer Expert"/>
          <p:cNvPicPr>
            <a:picLocks noChangeAspect="1"/>
          </p:cNvPicPr>
          <p:nvPr/>
        </p:nvPicPr>
        <p:blipFill>
          <a:blip r:embed="rId7"/>
          <a:srcRect t="-5" b="-5"/>
          <a:stretch/>
        </p:blipFill>
        <p:spPr>
          <a:xfrm>
            <a:off x="10794999" y="4267178"/>
            <a:ext cx="806428" cy="812767"/>
          </a:xfrm>
          <a:prstGeom prst="rect">
            <a:avLst/>
          </a:prstGeom>
        </p:spPr>
      </p:pic>
      <p:pic>
        <p:nvPicPr>
          <p:cNvPr id="10" name="Image 5" descr="line"/>
          <p:cNvPicPr>
            <a:picLocks noChangeAspect="1"/>
          </p:cNvPicPr>
          <p:nvPr/>
        </p:nvPicPr>
        <p:blipFill>
          <a:blip r:embed="rId8"/>
          <a:srcRect t="-5559" b="-5559"/>
          <a:stretch/>
        </p:blipFill>
        <p:spPr>
          <a:xfrm>
            <a:off x="8889999" y="5334000"/>
            <a:ext cx="2540000" cy="7056"/>
          </a:xfrm>
          <a:prstGeom prst="rect">
            <a:avLst/>
          </a:prstGeom>
        </p:spPr>
      </p:pic>
      <p:sp>
        <p:nvSpPr>
          <p:cNvPr id="11" name="Shape 3"/>
          <p:cNvSpPr/>
          <p:nvPr/>
        </p:nvSpPr>
        <p:spPr>
          <a:xfrm>
            <a:off x="8978855" y="5638767"/>
            <a:ext cx="635000" cy="635000"/>
          </a:xfrm>
          <a:prstGeom prst="roundRect">
            <a:avLst>
              <a:gd name="adj" fmla="val 10000"/>
            </a:avLst>
          </a:prstGeom>
          <a:solidFill>
            <a:srgbClr val="FFFFFF"/>
          </a:solidFill>
          <a:ln/>
        </p:spPr>
        <p:txBody>
          <a:bodyPr/>
          <a:lstStyle/>
          <a:p>
            <a:endParaRPr lang="en-AT"/>
          </a:p>
        </p:txBody>
      </p:sp>
      <p:pic>
        <p:nvPicPr>
          <p:cNvPr id="12" name="Image 6" descr="QR code"/>
          <p:cNvPicPr>
            <a:picLocks noChangeAspect="1"/>
          </p:cNvPicPr>
          <p:nvPr/>
        </p:nvPicPr>
        <p:blipFill>
          <a:blip r:embed="rId9"/>
          <a:srcRect t="-338" b="-338"/>
          <a:stretch/>
        </p:blipFill>
        <p:spPr>
          <a:xfrm>
            <a:off x="9029622" y="5689533"/>
            <a:ext cx="533356" cy="533356"/>
          </a:xfrm>
          <a:prstGeom prst="rect">
            <a:avLst/>
          </a:prstGeom>
        </p:spPr>
      </p:pic>
      <p:sp>
        <p:nvSpPr>
          <p:cNvPr id="13" name="Text 4"/>
          <p:cNvSpPr/>
          <p:nvPr/>
        </p:nvSpPr>
        <p:spPr>
          <a:xfrm>
            <a:off x="9766267" y="5715000"/>
            <a:ext cx="1701800" cy="208293"/>
          </a:xfrm>
          <a:prstGeom prst="rect">
            <a:avLst/>
          </a:prstGeom>
          <a:noFill/>
          <a:ln/>
        </p:spPr>
        <p:txBody>
          <a:bodyPr wrap="square" lIns="0" tIns="0" rIns="0" bIns="0" rtlCol="0" anchor="t">
            <a:normAutofit/>
          </a:bodyPr>
          <a:lstStyle/>
          <a:p>
            <a:pPr marL="0" indent="0" algn="l">
              <a:lnSpc>
                <a:spcPts val="1440"/>
              </a:lnSpc>
              <a:buNone/>
            </a:pPr>
            <a:r>
              <a:rPr lang="en-US" sz="1200" kern="0" spc="100" dirty="0">
                <a:solidFill>
                  <a:srgbClr val="D4B483"/>
                </a:solidFill>
                <a:latin typeface="Poppins" pitchFamily="34" charset="0"/>
                <a:ea typeface="Poppins" pitchFamily="34" charset="-122"/>
                <a:cs typeface="Poppins" pitchFamily="34" charset="-120"/>
              </a:rPr>
              <a:t>SCAN TO CONNECT</a:t>
            </a:r>
            <a:endParaRPr lang="en-US" sz="1200" dirty="0"/>
          </a:p>
        </p:txBody>
      </p:sp>
      <p:sp>
        <p:nvSpPr>
          <p:cNvPr id="14" name="Text 5"/>
          <p:cNvSpPr/>
          <p:nvPr/>
        </p:nvSpPr>
        <p:spPr>
          <a:xfrm>
            <a:off x="9766267" y="5930855"/>
            <a:ext cx="1701800" cy="269203"/>
          </a:xfrm>
          <a:prstGeom prst="rect">
            <a:avLst/>
          </a:prstGeom>
          <a:noFill/>
          <a:ln/>
        </p:spPr>
        <p:txBody>
          <a:bodyPr wrap="square" lIns="0" tIns="0" rIns="0" bIns="0" rtlCol="0" anchor="t">
            <a:normAutofit/>
          </a:bodyPr>
          <a:lstStyle/>
          <a:p>
            <a:pPr marL="0" indent="0" algn="l">
              <a:lnSpc>
                <a:spcPts val="1920"/>
              </a:lnSpc>
              <a:buNone/>
            </a:pPr>
            <a:r>
              <a:rPr lang="en-US" sz="1600" b="1" kern="0" spc="-15" dirty="0">
                <a:solidFill>
                  <a:srgbClr val="FFFFFF"/>
                </a:solidFill>
                <a:latin typeface="Montserrat" pitchFamily="34" charset="0"/>
                <a:ea typeface="Montserrat" pitchFamily="34" charset="-122"/>
                <a:cs typeface="Montserrat" pitchFamily="34" charset="-120"/>
              </a:rPr>
              <a:t>integrations.at</a:t>
            </a:r>
            <a:endParaRPr lang="en-US" sz="1600" dirty="0"/>
          </a:p>
        </p:txBody>
      </p:sp>
      <p:sp>
        <p:nvSpPr>
          <p:cNvPr id="15" name="Shape 6"/>
          <p:cNvSpPr/>
          <p:nvPr/>
        </p:nvSpPr>
        <p:spPr>
          <a:xfrm>
            <a:off x="812767" y="740392"/>
            <a:ext cx="254000" cy="19017"/>
          </a:xfrm>
          <a:prstGeom prst="rect">
            <a:avLst/>
          </a:prstGeom>
          <a:solidFill>
            <a:srgbClr val="4A9EFF"/>
          </a:solidFill>
          <a:ln/>
        </p:spPr>
        <p:txBody>
          <a:bodyPr/>
          <a:lstStyle/>
          <a:p>
            <a:endParaRPr lang="en-AT"/>
          </a:p>
        </p:txBody>
      </p:sp>
      <p:sp>
        <p:nvSpPr>
          <p:cNvPr id="16" name="Text 7"/>
          <p:cNvSpPr/>
          <p:nvPr/>
        </p:nvSpPr>
        <p:spPr>
          <a:xfrm>
            <a:off x="1193767" y="609589"/>
            <a:ext cx="5743944" cy="306079"/>
          </a:xfrm>
          <a:prstGeom prst="rect">
            <a:avLst/>
          </a:prstGeom>
          <a:noFill/>
          <a:ln/>
        </p:spPr>
        <p:txBody>
          <a:bodyPr wrap="square" lIns="0" tIns="0" rIns="0" bIns="0" rtlCol="0" anchor="t">
            <a:normAutofit/>
          </a:bodyPr>
          <a:lstStyle/>
          <a:p>
            <a:pPr marL="0" indent="0" algn="l">
              <a:lnSpc>
                <a:spcPts val="2210"/>
              </a:lnSpc>
              <a:buNone/>
            </a:pPr>
            <a:r>
              <a:rPr lang="en-US" sz="1700" b="1" kern="0" spc="35" dirty="0">
                <a:solidFill>
                  <a:srgbClr val="2D3436"/>
                </a:solidFill>
                <a:latin typeface="Montserrat" pitchFamily="34" charset="0"/>
                <a:ea typeface="Montserrat" pitchFamily="34" charset="-122"/>
                <a:cs typeface="Montserrat" pitchFamily="34" charset="-120"/>
              </a:rPr>
              <a:t>AGENTIC AI: FROM STRATEGY TO </a:t>
            </a:r>
            <a:r>
              <a:rPr lang="en-US" sz="1700" b="1" kern="0" spc="35" dirty="0">
                <a:solidFill>
                  <a:srgbClr val="1462C6"/>
                </a:solidFill>
                <a:latin typeface="Montserrat" pitchFamily="34" charset="0"/>
                <a:ea typeface="Montserrat" pitchFamily="34" charset="-122"/>
                <a:cs typeface="Montserrat" pitchFamily="34" charset="-120"/>
              </a:rPr>
              <a:t>PRODUCTION.</a:t>
            </a:r>
            <a:endParaRPr lang="en-US" sz="1700" dirty="0"/>
          </a:p>
        </p:txBody>
      </p:sp>
      <p:sp>
        <p:nvSpPr>
          <p:cNvPr id="17" name="Text 8"/>
          <p:cNvSpPr/>
          <p:nvPr/>
        </p:nvSpPr>
        <p:spPr>
          <a:xfrm>
            <a:off x="812767" y="1017268"/>
            <a:ext cx="6906756" cy="1476199"/>
          </a:xfrm>
          <a:prstGeom prst="rect">
            <a:avLst/>
          </a:prstGeom>
          <a:noFill/>
          <a:ln/>
        </p:spPr>
        <p:txBody>
          <a:bodyPr wrap="square" lIns="0" tIns="0" rIns="0" bIns="0" rtlCol="0" anchor="t">
            <a:normAutofit/>
          </a:bodyPr>
          <a:lstStyle/>
          <a:p>
            <a:pPr marL="0" indent="0" algn="l">
              <a:lnSpc>
                <a:spcPts val="5712"/>
              </a:lnSpc>
              <a:buNone/>
            </a:pPr>
            <a:r>
              <a:rPr lang="en-US" sz="5600" b="1" kern="0" spc="-125" dirty="0">
                <a:solidFill>
                  <a:srgbClr val="2D3436"/>
                </a:solidFill>
                <a:latin typeface="Montserrat" pitchFamily="34" charset="0"/>
                <a:ea typeface="Montserrat" pitchFamily="34" charset="-122"/>
                <a:cs typeface="Montserrat" pitchFamily="34" charset="-120"/>
              </a:rPr>
              <a:t>Alexander</a:t>
            </a:r>
            <a:endParaRPr lang="en-US" sz="5600" dirty="0"/>
          </a:p>
          <a:p>
            <a:pPr marL="0" indent="0" algn="l">
              <a:lnSpc>
                <a:spcPts val="5712"/>
              </a:lnSpc>
              <a:buNone/>
            </a:pPr>
            <a:r>
              <a:rPr lang="en-US" sz="5600" b="1" kern="0" spc="-125" dirty="0">
                <a:solidFill>
                  <a:srgbClr val="2D3436"/>
                </a:solidFill>
                <a:latin typeface="Montserrat" pitchFamily="34" charset="0"/>
                <a:ea typeface="Montserrat" pitchFamily="34" charset="-122"/>
                <a:cs typeface="Montserrat" pitchFamily="34" charset="-120"/>
              </a:rPr>
              <a:t>Kastil</a:t>
            </a:r>
            <a:endParaRPr lang="en-US" sz="5600" dirty="0"/>
          </a:p>
        </p:txBody>
      </p:sp>
      <p:sp>
        <p:nvSpPr>
          <p:cNvPr id="18" name="Text 9"/>
          <p:cNvSpPr/>
          <p:nvPr/>
        </p:nvSpPr>
        <p:spPr>
          <a:xfrm>
            <a:off x="812767" y="2620466"/>
            <a:ext cx="6906756" cy="27428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95F67"/>
                </a:solidFill>
                <a:latin typeface="Poppins" pitchFamily="34" charset="0"/>
                <a:ea typeface="Poppins" pitchFamily="34" charset="-122"/>
                <a:cs typeface="Poppins" pitchFamily="34" charset="-120"/>
              </a:rPr>
              <a:t>Full stack, from enterprise software to agentic AI. Since 1996</a:t>
            </a:r>
            <a:endParaRPr lang="en-US" sz="1400" dirty="0"/>
          </a:p>
        </p:txBody>
      </p:sp>
      <p:sp>
        <p:nvSpPr>
          <p:cNvPr id="19" name="Shape 10"/>
          <p:cNvSpPr/>
          <p:nvPr/>
        </p:nvSpPr>
        <p:spPr>
          <a:xfrm>
            <a:off x="822292" y="3322781"/>
            <a:ext cx="0" cy="704784"/>
          </a:xfrm>
          <a:prstGeom prst="line">
            <a:avLst/>
          </a:prstGeom>
          <a:noFill/>
          <a:ln w="19050">
            <a:solidFill>
              <a:srgbClr val="D4B483"/>
            </a:solidFill>
            <a:prstDash val="solid"/>
          </a:ln>
        </p:spPr>
        <p:txBody>
          <a:bodyPr/>
          <a:lstStyle/>
          <a:p>
            <a:endParaRPr lang="en-AT"/>
          </a:p>
        </p:txBody>
      </p:sp>
      <p:sp>
        <p:nvSpPr>
          <p:cNvPr id="20" name="Text 11"/>
          <p:cNvSpPr/>
          <p:nvPr/>
        </p:nvSpPr>
        <p:spPr>
          <a:xfrm>
            <a:off x="982762" y="3335458"/>
            <a:ext cx="3068982"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AI at Work</a:t>
            </a:r>
            <a:endParaRPr lang="en-US" sz="1300" dirty="0"/>
          </a:p>
        </p:txBody>
      </p:sp>
      <p:sp>
        <p:nvSpPr>
          <p:cNvPr id="21" name="Text 12"/>
          <p:cNvSpPr/>
          <p:nvPr/>
        </p:nvSpPr>
        <p:spPr>
          <a:xfrm>
            <a:off x="982762" y="3588136"/>
            <a:ext cx="3068982"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Value discovery, KPI mapping and roadmap</a:t>
            </a:r>
            <a:endParaRPr lang="en-US" sz="1200" dirty="0"/>
          </a:p>
        </p:txBody>
      </p:sp>
      <p:sp>
        <p:nvSpPr>
          <p:cNvPr id="22" name="Shape 13"/>
          <p:cNvSpPr/>
          <p:nvPr/>
        </p:nvSpPr>
        <p:spPr>
          <a:xfrm>
            <a:off x="4378237" y="3322781"/>
            <a:ext cx="0" cy="704784"/>
          </a:xfrm>
          <a:prstGeom prst="line">
            <a:avLst/>
          </a:prstGeom>
          <a:noFill/>
          <a:ln w="19050">
            <a:solidFill>
              <a:srgbClr val="D4B483"/>
            </a:solidFill>
            <a:prstDash val="solid"/>
          </a:ln>
        </p:spPr>
        <p:txBody>
          <a:bodyPr/>
          <a:lstStyle/>
          <a:p>
            <a:endParaRPr lang="en-AT"/>
          </a:p>
        </p:txBody>
      </p:sp>
      <p:sp>
        <p:nvSpPr>
          <p:cNvPr id="23" name="Text 14"/>
          <p:cNvSpPr/>
          <p:nvPr/>
        </p:nvSpPr>
        <p:spPr>
          <a:xfrm>
            <a:off x="4538706" y="3335458"/>
            <a:ext cx="3069039"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Enterprise AI</a:t>
            </a:r>
            <a:endParaRPr lang="en-US" sz="1300" dirty="0"/>
          </a:p>
        </p:txBody>
      </p:sp>
      <p:sp>
        <p:nvSpPr>
          <p:cNvPr id="24" name="Text 15"/>
          <p:cNvSpPr/>
          <p:nvPr/>
        </p:nvSpPr>
        <p:spPr>
          <a:xfrm>
            <a:off x="4538706" y="3588136"/>
            <a:ext cx="3069039"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Governed multi-agent systems on Microsoft Copilot and Foundry</a:t>
            </a:r>
            <a:endParaRPr lang="en-US" sz="1200" dirty="0"/>
          </a:p>
        </p:txBody>
      </p:sp>
      <p:sp>
        <p:nvSpPr>
          <p:cNvPr id="25" name="Shape 16"/>
          <p:cNvSpPr/>
          <p:nvPr/>
        </p:nvSpPr>
        <p:spPr>
          <a:xfrm>
            <a:off x="822292" y="4332331"/>
            <a:ext cx="0" cy="704784"/>
          </a:xfrm>
          <a:prstGeom prst="line">
            <a:avLst/>
          </a:prstGeom>
          <a:noFill/>
          <a:ln w="19050">
            <a:solidFill>
              <a:srgbClr val="D4B483"/>
            </a:solidFill>
            <a:prstDash val="solid"/>
          </a:ln>
        </p:spPr>
        <p:txBody>
          <a:bodyPr/>
          <a:lstStyle/>
          <a:p>
            <a:endParaRPr lang="en-AT"/>
          </a:p>
        </p:txBody>
      </p:sp>
      <p:sp>
        <p:nvSpPr>
          <p:cNvPr id="26" name="Text 17"/>
          <p:cNvSpPr/>
          <p:nvPr/>
        </p:nvSpPr>
        <p:spPr>
          <a:xfrm>
            <a:off x="982762" y="4345009"/>
            <a:ext cx="3068982"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Agentic Software Engineering</a:t>
            </a:r>
            <a:endParaRPr lang="en-US" sz="1300" dirty="0"/>
          </a:p>
        </p:txBody>
      </p:sp>
      <p:sp>
        <p:nvSpPr>
          <p:cNvPr id="27" name="Text 18"/>
          <p:cNvSpPr/>
          <p:nvPr/>
        </p:nvSpPr>
        <p:spPr>
          <a:xfrm>
            <a:off x="982762" y="4597686"/>
            <a:ext cx="3068982"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Harness architecture for Claude Code and GitHub Copilot</a:t>
            </a:r>
            <a:endParaRPr lang="en-US" sz="1200" dirty="0"/>
          </a:p>
        </p:txBody>
      </p:sp>
      <p:sp>
        <p:nvSpPr>
          <p:cNvPr id="28" name="Shape 19"/>
          <p:cNvSpPr/>
          <p:nvPr/>
        </p:nvSpPr>
        <p:spPr>
          <a:xfrm>
            <a:off x="4378237" y="4332331"/>
            <a:ext cx="0" cy="704784"/>
          </a:xfrm>
          <a:prstGeom prst="line">
            <a:avLst/>
          </a:prstGeom>
          <a:noFill/>
          <a:ln w="19050">
            <a:solidFill>
              <a:srgbClr val="D4B483"/>
            </a:solidFill>
            <a:prstDash val="solid"/>
          </a:ln>
        </p:spPr>
        <p:txBody>
          <a:bodyPr/>
          <a:lstStyle/>
          <a:p>
            <a:endParaRPr lang="en-AT"/>
          </a:p>
        </p:txBody>
      </p:sp>
      <p:sp>
        <p:nvSpPr>
          <p:cNvPr id="29" name="Text 20"/>
          <p:cNvSpPr/>
          <p:nvPr/>
        </p:nvSpPr>
        <p:spPr>
          <a:xfrm>
            <a:off x="4538706" y="4345009"/>
            <a:ext cx="3069039"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Team Enablement</a:t>
            </a:r>
            <a:endParaRPr lang="en-US" sz="1300" dirty="0"/>
          </a:p>
        </p:txBody>
      </p:sp>
      <p:sp>
        <p:nvSpPr>
          <p:cNvPr id="30" name="Text 21"/>
          <p:cNvSpPr/>
          <p:nvPr/>
        </p:nvSpPr>
        <p:spPr>
          <a:xfrm>
            <a:off x="4538706" y="4597686"/>
            <a:ext cx="3069039"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Master classes, custom course production and AI-tutored learning</a:t>
            </a:r>
            <a:endParaRPr lang="en-US" sz="1200" dirty="0"/>
          </a:p>
        </p:txBody>
      </p:sp>
      <p:sp>
        <p:nvSpPr>
          <p:cNvPr id="31" name="Shape 22"/>
          <p:cNvSpPr/>
          <p:nvPr/>
        </p:nvSpPr>
        <p:spPr>
          <a:xfrm>
            <a:off x="812767" y="5493775"/>
            <a:ext cx="6705588" cy="0"/>
          </a:xfrm>
          <a:prstGeom prst="line">
            <a:avLst/>
          </a:prstGeom>
          <a:noFill/>
          <a:ln w="6350">
            <a:solidFill>
              <a:srgbClr val="E0E0E0"/>
            </a:solidFill>
            <a:prstDash val="solid"/>
          </a:ln>
        </p:spPr>
        <p:txBody>
          <a:bodyPr/>
          <a:lstStyle/>
          <a:p>
            <a:endParaRPr lang="en-AT"/>
          </a:p>
        </p:txBody>
      </p:sp>
      <p:sp>
        <p:nvSpPr>
          <p:cNvPr id="32" name="Text 23"/>
          <p:cNvSpPr/>
          <p:nvPr/>
        </p:nvSpPr>
        <p:spPr>
          <a:xfrm>
            <a:off x="812767" y="5608394"/>
            <a:ext cx="3244076"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integrations.at</a:t>
            </a:r>
            <a:endParaRPr lang="en-US" sz="1200" dirty="0"/>
          </a:p>
        </p:txBody>
      </p:sp>
      <p:sp>
        <p:nvSpPr>
          <p:cNvPr id="33" name="Text 24"/>
          <p:cNvSpPr/>
          <p:nvPr/>
        </p:nvSpPr>
        <p:spPr>
          <a:xfrm>
            <a:off x="4368712" y="5608394"/>
            <a:ext cx="324413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github.com/alexander-kastil</a:t>
            </a:r>
            <a:endParaRPr lang="en-US" sz="1200" dirty="0"/>
          </a:p>
        </p:txBody>
      </p:sp>
      <p:sp>
        <p:nvSpPr>
          <p:cNvPr id="34" name="Text 25"/>
          <p:cNvSpPr/>
          <p:nvPr/>
        </p:nvSpPr>
        <p:spPr>
          <a:xfrm>
            <a:off x="812767" y="5839464"/>
            <a:ext cx="3244076"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alexander.kastil@integrations.at</a:t>
            </a:r>
            <a:endParaRPr lang="en-US" sz="1200" dirty="0"/>
          </a:p>
        </p:txBody>
      </p:sp>
      <p:sp>
        <p:nvSpPr>
          <p:cNvPr id="35" name="Text 26"/>
          <p:cNvSpPr/>
          <p:nvPr/>
        </p:nvSpPr>
        <p:spPr>
          <a:xfrm>
            <a:off x="4368712" y="5839464"/>
            <a:ext cx="324413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linkedin.com/in/alexander-kastil</a:t>
            </a:r>
            <a:endParaRPr lang="en-US" sz="1200" dirty="0"/>
          </a:p>
        </p:txBody>
      </p:sp>
    </p:spTree>
    <p:extLst>
      <p:ext uri="{BB962C8B-B14F-4D97-AF65-F5344CB8AC3E}">
        <p14:creationId xmlns:p14="http://schemas.microsoft.com/office/powerpoint/2010/main" val="20092566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127999"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module-1-photo.jpg"/>
          <p:cNvPicPr>
            <a:picLocks noChangeAspect="1"/>
          </p:cNvPicPr>
          <p:nvPr/>
        </p:nvPicPr>
        <p:blipFill>
          <a:blip r:embed="rId2"/>
          <a:stretch>
            <a:fillRect/>
          </a:stretch>
        </p:blipFill>
        <p:spPr>
          <a:xfrm>
            <a:off x="8166088" y="0"/>
            <a:ext cx="4025912" cy="6858000"/>
          </a:xfrm>
          <a:prstGeom prst="rect">
            <a:avLst/>
          </a:prstGeom>
        </p:spPr>
      </p:pic>
      <p:sp>
        <p:nvSpPr>
          <p:cNvPr id="4" name="Rectangle 3"/>
          <p:cNvSpPr/>
          <p:nvPr/>
        </p:nvSpPr>
        <p:spPr>
          <a:xfrm>
            <a:off x="8127999" y="0"/>
            <a:ext cx="38089" cy="6858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12767" y="1740392"/>
            <a:ext cx="254000" cy="19017"/>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0000" y="1580000"/>
            <a:ext cx="6700000" cy="400000"/>
          </a:xfrm>
          <a:prstGeom prst="rect">
            <a:avLst/>
          </a:prstGeom>
          <a:noFill/>
        </p:spPr>
        <p:txBody>
          <a:bodyPr wrap="square">
            <a:spAutoFit/>
          </a:bodyPr>
          <a:lstStyle/>
          <a:p>
            <a:pPr>
              <a:lnSpc>
                <a:spcPct val="95000"/>
              </a:lnSpc>
            </a:pPr>
            <a:r>
              <a:rPr sz="1700" b="1">
                <a:solidFill>
                  <a:srgbClr val="2D3436"/>
                </a:solidFill>
                <a:latin typeface="Montserrat"/>
              </a:rPr>
              <a:t>MODULE 1</a:t>
            </a:r>
          </a:p>
        </p:txBody>
      </p:sp>
      <p:sp>
        <p:nvSpPr>
          <p:cNvPr id="7" name="TextBox 6"/>
          <p:cNvSpPr txBox="1"/>
          <p:nvPr/>
        </p:nvSpPr>
        <p:spPr>
          <a:xfrm>
            <a:off x="780000" y="2150000"/>
            <a:ext cx="7100000" cy="2200000"/>
          </a:xfrm>
          <a:prstGeom prst="rect">
            <a:avLst/>
          </a:prstGeom>
          <a:noFill/>
        </p:spPr>
        <p:txBody>
          <a:bodyPr wrap="square">
            <a:spAutoFit/>
          </a:bodyPr>
          <a:lstStyle/>
          <a:p>
            <a:pPr>
              <a:lnSpc>
                <a:spcPct val="95000"/>
              </a:lnSpc>
            </a:pPr>
            <a:r>
              <a:rPr sz="5000" b="1">
                <a:solidFill>
                  <a:srgbClr val="2D3436"/>
                </a:solidFill>
                <a:latin typeface="Montserrat"/>
              </a:rPr>
              <a:t>Fundamentals &amp; Agent Mode Basics</a:t>
            </a:r>
          </a:p>
        </p:txBody>
      </p:sp>
      <p:sp>
        <p:nvSpPr>
          <p:cNvPr id="8" name="TextBox 7"/>
          <p:cNvSpPr txBox="1"/>
          <p:nvPr/>
        </p:nvSpPr>
        <p:spPr>
          <a:xfrm>
            <a:off x="812767" y="4500000"/>
            <a:ext cx="7000000" cy="500000"/>
          </a:xfrm>
          <a:prstGeom prst="rect">
            <a:avLst/>
          </a:prstGeom>
          <a:noFill/>
        </p:spPr>
        <p:txBody>
          <a:bodyPr wrap="square">
            <a:spAutoFit/>
          </a:bodyPr>
          <a:lstStyle/>
          <a:p>
            <a:pPr>
              <a:lnSpc>
                <a:spcPct val="95000"/>
              </a:lnSpc>
            </a:pPr>
            <a:r>
              <a:rPr sz="2000" b="0">
                <a:solidFill>
                  <a:srgbClr val="595F67"/>
                </a:solidFill>
                <a:latin typeface="Poppins"/>
              </a:rPr>
              <a:t>GitHub Copilot Essentials</a:t>
            </a:r>
          </a:p>
        </p:txBody>
      </p:sp>
      <p:sp>
        <p:nvSpPr>
          <p:cNvPr id="9" name="Rectangle 8"/>
          <p:cNvSpPr/>
          <p:nvPr/>
        </p:nvSpPr>
        <p:spPr>
          <a:xfrm>
            <a:off x="812767" y="5500000"/>
            <a:ext cx="6900000"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12767" y="5620000"/>
            <a:ext cx="7000000" cy="400000"/>
          </a:xfrm>
          <a:prstGeom prst="rect">
            <a:avLst/>
          </a:prstGeom>
          <a:noFill/>
        </p:spPr>
        <p:txBody>
          <a:bodyPr wrap="square">
            <a:spAutoFit/>
          </a:bodyPr>
          <a:lstStyle/>
          <a:p>
            <a:pPr>
              <a:lnSpc>
                <a:spcPct val="95000"/>
              </a:lnSpc>
            </a:pPr>
            <a:r>
              <a:rPr sz="1200" b="0">
                <a:solidFill>
                  <a:srgbClr val="595F67"/>
                </a:solidFill>
                <a:latin typeface="Poppins"/>
              </a:rPr>
              <a:t>Agentic Software Engineering using GitHub Copilot</a:t>
            </a:r>
          </a:p>
        </p:txBody>
      </p:sp>
    </p:spTree>
    <p:extLst>
      <p:ext uri="{BB962C8B-B14F-4D97-AF65-F5344CB8AC3E}">
        <p14:creationId xmlns:p14="http://schemas.microsoft.com/office/powerpoint/2010/main" val="3389047086"/>
      </p:ext>
    </p:extLst>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7F5"/>
        </a:solidFill>
        <a:effectLst/>
      </p:bgPr>
    </p:bg>
    <p:spTree>
      <p:nvGrpSpPr>
        <p:cNvPr id="1" name=""/>
        <p:cNvGrpSpPr/>
        <p:nvPr/>
      </p:nvGrpSpPr>
      <p:grpSpPr/>
      <p:sp>
        <p:nvSpPr>
          <p:cNvPr id="2" name="gd-topics-box"/>
          <p:cNvSpPr/>
          <p:nvPr/>
        </p:nvSpPr>
        <p:spPr>
          <a:xfrm>
            <a:off x="812767" y="7557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gd-topics-box"/>
          <p:cNvSpPr/>
          <p:nvPr/>
        </p:nvSpPr>
        <p:spPr>
          <a:xfrm>
            <a:off x="812767"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gd-topics-text"/>
          <p:cNvSpPr txBox="1"/>
          <p:nvPr/>
        </p:nvSpPr>
        <p:spPr>
          <a:xfrm>
            <a:off x="1042767" y="985700"/>
            <a:ext cx="2010166" cy="560000"/>
          </a:xfrm>
          <a:prstGeom prst="rect">
            <a:avLst/>
          </a:prstGeom>
          <a:noFill/>
        </p:spPr>
        <p:txBody>
          <a:bodyPr wrap="square" anchor="t" lIns="0" rIns="0" tIns="0" bIns="0">
            <a:spAutoFit/>
          </a:bodyPr>
          <a:lstStyle/>
          <a:p>
            <a:pPr>
              <a:lnSpc>
                <a:spcPct val="95000"/>
              </a:lnSpc>
              <a:spcBef>
                <a:spcPts val="0"/>
              </a:spcBef>
            </a:pPr>
            <a:r>
              <a:rPr sz="3400" b="1">
                <a:solidFill>
                  <a:srgbClr val="B08D57"/>
                </a:solidFill>
                <a:latin typeface="Montserrat"/>
              </a:rPr>
              <a:t>01</a:t>
            </a:r>
          </a:p>
        </p:txBody>
      </p:sp>
      <p:sp>
        <p:nvSpPr>
          <p:cNvPr id="5" name="gd-topics-text"/>
          <p:cNvSpPr txBox="1"/>
          <p:nvPr/>
        </p:nvSpPr>
        <p:spPr>
          <a:xfrm>
            <a:off x="1042767" y="1625700"/>
            <a:ext cx="2010166" cy="1300000"/>
          </a:xfrm>
          <a:prstGeom prst="rect">
            <a:avLst/>
          </a:prstGeom>
          <a:noFill/>
        </p:spPr>
        <p:txBody>
          <a:bodyPr wrap="square" anchor="t" lIns="0" rIns="0" tIns="0" bIns="0">
            <a:spAutoFit/>
          </a:bodyPr>
          <a:lstStyle/>
          <a:p>
            <a:pPr>
              <a:lnSpc>
                <a:spcPct val="95000"/>
              </a:lnSpc>
              <a:spcBef>
                <a:spcPts val="0"/>
              </a:spcBef>
            </a:pPr>
            <a:r>
              <a:rPr sz="1700" b="1">
                <a:solidFill>
                  <a:srgbClr val="2D3436"/>
                </a:solidFill>
                <a:latin typeface="Montserrat"/>
              </a:rPr>
              <a:t>Getting Started &amp; Configuring Copilot</a:t>
            </a:r>
          </a:p>
          <a:p>
            <a:pPr>
              <a:lnSpc>
                <a:spcPct val="95000"/>
              </a:lnSpc>
              <a:spcBef>
                <a:spcPts val="600"/>
              </a:spcBef>
            </a:pPr>
            <a:r>
              <a:rPr sz="1200" b="0">
                <a:solidFill>
                  <a:srgbClr val="595F67"/>
                </a:solidFill>
                <a:latin typeface="Poppins"/>
              </a:rPr>
              <a:t>Modes, settings and keeping secrets out</a:t>
            </a:r>
          </a:p>
        </p:txBody>
      </p:sp>
      <p:sp>
        <p:nvSpPr>
          <p:cNvPr id="6" name="gd-topics-box"/>
          <p:cNvSpPr/>
          <p:nvPr/>
        </p:nvSpPr>
        <p:spPr>
          <a:xfrm>
            <a:off x="3511533" y="7557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gd-topics-box"/>
          <p:cNvSpPr/>
          <p:nvPr/>
        </p:nvSpPr>
        <p:spPr>
          <a:xfrm>
            <a:off x="3511533"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gd-topics-text"/>
          <p:cNvSpPr txBox="1"/>
          <p:nvPr/>
        </p:nvSpPr>
        <p:spPr>
          <a:xfrm>
            <a:off x="3741533" y="985700"/>
            <a:ext cx="2010166" cy="560000"/>
          </a:xfrm>
          <a:prstGeom prst="rect">
            <a:avLst/>
          </a:prstGeom>
          <a:noFill/>
        </p:spPr>
        <p:txBody>
          <a:bodyPr wrap="square" anchor="t" lIns="0" rIns="0" tIns="0" bIns="0">
            <a:spAutoFit/>
          </a:bodyPr>
          <a:lstStyle/>
          <a:p>
            <a:pPr>
              <a:lnSpc>
                <a:spcPct val="95000"/>
              </a:lnSpc>
              <a:spcBef>
                <a:spcPts val="0"/>
              </a:spcBef>
            </a:pPr>
            <a:r>
              <a:rPr sz="3400" b="1">
                <a:solidFill>
                  <a:srgbClr val="B08D57"/>
                </a:solidFill>
                <a:latin typeface="Montserrat"/>
              </a:rPr>
              <a:t>02</a:t>
            </a:r>
          </a:p>
        </p:txBody>
      </p:sp>
      <p:sp>
        <p:nvSpPr>
          <p:cNvPr id="9" name="gd-topics-text"/>
          <p:cNvSpPr txBox="1"/>
          <p:nvPr/>
        </p:nvSpPr>
        <p:spPr>
          <a:xfrm>
            <a:off x="3741533" y="1625700"/>
            <a:ext cx="2010166" cy="1300000"/>
          </a:xfrm>
          <a:prstGeom prst="rect">
            <a:avLst/>
          </a:prstGeom>
          <a:noFill/>
        </p:spPr>
        <p:txBody>
          <a:bodyPr wrap="square" anchor="t" lIns="0" rIns="0" tIns="0" bIns="0">
            <a:spAutoFit/>
          </a:bodyPr>
          <a:lstStyle/>
          <a:p>
            <a:pPr>
              <a:lnSpc>
                <a:spcPct val="95000"/>
              </a:lnSpc>
              <a:spcBef>
                <a:spcPts val="0"/>
              </a:spcBef>
            </a:pPr>
            <a:r>
              <a:rPr sz="1700" b="1">
                <a:solidFill>
                  <a:srgbClr val="2D3436"/>
                </a:solidFill>
                <a:latin typeface="Montserrat"/>
              </a:rPr>
              <a:t>Selecting Models</a:t>
            </a:r>
          </a:p>
          <a:p>
            <a:pPr>
              <a:lnSpc>
                <a:spcPct val="95000"/>
              </a:lnSpc>
              <a:spcBef>
                <a:spcPts val="600"/>
              </a:spcBef>
            </a:pPr>
            <a:r>
              <a:rPr sz="1200" b="0">
                <a:solidFill>
                  <a:srgbClr val="595F67"/>
                </a:solidFill>
                <a:latin typeface="Poppins"/>
              </a:rPr>
              <a:t>Context size, cost and task fit</a:t>
            </a:r>
          </a:p>
        </p:txBody>
      </p:sp>
      <p:sp>
        <p:nvSpPr>
          <p:cNvPr id="10" name="gd-topics-box"/>
          <p:cNvSpPr/>
          <p:nvPr/>
        </p:nvSpPr>
        <p:spPr>
          <a:xfrm>
            <a:off x="6210299" y="7557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gd-topics-box"/>
          <p:cNvSpPr/>
          <p:nvPr/>
        </p:nvSpPr>
        <p:spPr>
          <a:xfrm>
            <a:off x="6210299"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gd-topics-text"/>
          <p:cNvSpPr txBox="1"/>
          <p:nvPr/>
        </p:nvSpPr>
        <p:spPr>
          <a:xfrm>
            <a:off x="6440299" y="985700"/>
            <a:ext cx="2010166" cy="560000"/>
          </a:xfrm>
          <a:prstGeom prst="rect">
            <a:avLst/>
          </a:prstGeom>
          <a:noFill/>
        </p:spPr>
        <p:txBody>
          <a:bodyPr wrap="square" anchor="t" lIns="0" rIns="0" tIns="0" bIns="0">
            <a:spAutoFit/>
          </a:bodyPr>
          <a:lstStyle/>
          <a:p>
            <a:pPr>
              <a:lnSpc>
                <a:spcPct val="95000"/>
              </a:lnSpc>
              <a:spcBef>
                <a:spcPts val="0"/>
              </a:spcBef>
            </a:pPr>
            <a:r>
              <a:rPr sz="3400" b="1">
                <a:solidFill>
                  <a:srgbClr val="B08D57"/>
                </a:solidFill>
                <a:latin typeface="Montserrat"/>
              </a:rPr>
              <a:t>03</a:t>
            </a:r>
          </a:p>
        </p:txBody>
      </p:sp>
      <p:sp>
        <p:nvSpPr>
          <p:cNvPr id="13" name="gd-topics-text"/>
          <p:cNvSpPr txBox="1"/>
          <p:nvPr/>
        </p:nvSpPr>
        <p:spPr>
          <a:xfrm>
            <a:off x="6440299" y="1625700"/>
            <a:ext cx="2010166" cy="1300000"/>
          </a:xfrm>
          <a:prstGeom prst="rect">
            <a:avLst/>
          </a:prstGeom>
          <a:noFill/>
        </p:spPr>
        <p:txBody>
          <a:bodyPr wrap="square" anchor="t" lIns="0" rIns="0" tIns="0" bIns="0">
            <a:spAutoFit/>
          </a:bodyPr>
          <a:lstStyle/>
          <a:p>
            <a:pPr>
              <a:lnSpc>
                <a:spcPct val="95000"/>
              </a:lnSpc>
              <a:spcBef>
                <a:spcPts val="0"/>
              </a:spcBef>
            </a:pPr>
            <a:r>
              <a:rPr sz="1700" b="1">
                <a:solidFill>
                  <a:srgbClr val="2D3436"/>
                </a:solidFill>
                <a:latin typeface="Montserrat"/>
              </a:rPr>
              <a:t>Shaping the Context Window</a:t>
            </a:r>
          </a:p>
          <a:p>
            <a:pPr>
              <a:lnSpc>
                <a:spcPct val="95000"/>
              </a:lnSpc>
              <a:spcBef>
                <a:spcPts val="600"/>
              </a:spcBef>
            </a:pPr>
            <a:r>
              <a:rPr sz="1200" b="0">
                <a:solidFill>
                  <a:srgbClr val="595F67"/>
                </a:solidFill>
                <a:latin typeface="Poppins"/>
              </a:rPr>
              <a:t>Prompt caching and deliberate context</a:t>
            </a:r>
          </a:p>
        </p:txBody>
      </p:sp>
      <p:sp>
        <p:nvSpPr>
          <p:cNvPr id="14" name="gd-topics-box"/>
          <p:cNvSpPr/>
          <p:nvPr/>
        </p:nvSpPr>
        <p:spPr>
          <a:xfrm>
            <a:off x="8909065" y="7557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gd-topics-box"/>
          <p:cNvSpPr/>
          <p:nvPr/>
        </p:nvSpPr>
        <p:spPr>
          <a:xfrm>
            <a:off x="8909065"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gd-topics-text"/>
          <p:cNvSpPr txBox="1"/>
          <p:nvPr/>
        </p:nvSpPr>
        <p:spPr>
          <a:xfrm>
            <a:off x="9139065" y="985700"/>
            <a:ext cx="2010166" cy="560000"/>
          </a:xfrm>
          <a:prstGeom prst="rect">
            <a:avLst/>
          </a:prstGeom>
          <a:noFill/>
        </p:spPr>
        <p:txBody>
          <a:bodyPr wrap="square" anchor="t" lIns="0" rIns="0" tIns="0" bIns="0">
            <a:spAutoFit/>
          </a:bodyPr>
          <a:lstStyle/>
          <a:p>
            <a:pPr>
              <a:lnSpc>
                <a:spcPct val="95000"/>
              </a:lnSpc>
              <a:spcBef>
                <a:spcPts val="0"/>
              </a:spcBef>
            </a:pPr>
            <a:r>
              <a:rPr sz="3400" b="1">
                <a:solidFill>
                  <a:srgbClr val="B08D57"/>
                </a:solidFill>
                <a:latin typeface="Montserrat"/>
              </a:rPr>
              <a:t>04</a:t>
            </a:r>
          </a:p>
        </p:txBody>
      </p:sp>
      <p:sp>
        <p:nvSpPr>
          <p:cNvPr id="17" name="gd-topics-text"/>
          <p:cNvSpPr txBox="1"/>
          <p:nvPr/>
        </p:nvSpPr>
        <p:spPr>
          <a:xfrm>
            <a:off x="9139065" y="1625700"/>
            <a:ext cx="2010166" cy="1300000"/>
          </a:xfrm>
          <a:prstGeom prst="rect">
            <a:avLst/>
          </a:prstGeom>
          <a:noFill/>
        </p:spPr>
        <p:txBody>
          <a:bodyPr wrap="square" anchor="t" lIns="0" rIns="0" tIns="0" bIns="0">
            <a:spAutoFit/>
          </a:bodyPr>
          <a:lstStyle/>
          <a:p>
            <a:pPr>
              <a:lnSpc>
                <a:spcPct val="95000"/>
              </a:lnSpc>
              <a:spcBef>
                <a:spcPts val="0"/>
              </a:spcBef>
            </a:pPr>
            <a:r>
              <a:rPr sz="1700" b="1">
                <a:solidFill>
                  <a:srgbClr val="2D3436"/>
                </a:solidFill>
                <a:latin typeface="Montserrat"/>
              </a:rPr>
              <a:t>AI-Assisted Coding Essentials</a:t>
            </a:r>
          </a:p>
          <a:p>
            <a:pPr>
              <a:lnSpc>
                <a:spcPct val="95000"/>
              </a:lnSpc>
              <a:spcBef>
                <a:spcPts val="600"/>
              </a:spcBef>
            </a:pPr>
            <a:r>
              <a:rPr sz="1200" b="0">
                <a:solidFill>
                  <a:srgbClr val="595F67"/>
                </a:solidFill>
                <a:latin typeface="Poppins"/>
              </a:rPr>
              <a:t>Prompting, inline suggestions and slash commands</a:t>
            </a:r>
          </a:p>
        </p:txBody>
      </p:sp>
      <p:sp>
        <p:nvSpPr>
          <p:cNvPr id="18" name="gd-topics-box"/>
          <p:cNvSpPr/>
          <p:nvPr/>
        </p:nvSpPr>
        <p:spPr>
          <a:xfrm>
            <a:off x="2162150" y="33843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gd-topics-box"/>
          <p:cNvSpPr/>
          <p:nvPr/>
        </p:nvSpPr>
        <p:spPr>
          <a:xfrm>
            <a:off x="2162150"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gd-topics-text"/>
          <p:cNvSpPr txBox="1"/>
          <p:nvPr/>
        </p:nvSpPr>
        <p:spPr>
          <a:xfrm>
            <a:off x="2392150" y="3614300"/>
            <a:ext cx="2010166" cy="560000"/>
          </a:xfrm>
          <a:prstGeom prst="rect">
            <a:avLst/>
          </a:prstGeom>
          <a:noFill/>
        </p:spPr>
        <p:txBody>
          <a:bodyPr wrap="square" anchor="t" lIns="0" rIns="0" tIns="0" bIns="0">
            <a:spAutoFit/>
          </a:bodyPr>
          <a:lstStyle/>
          <a:p>
            <a:pPr>
              <a:lnSpc>
                <a:spcPct val="95000"/>
              </a:lnSpc>
              <a:spcBef>
                <a:spcPts val="0"/>
              </a:spcBef>
            </a:pPr>
            <a:r>
              <a:rPr sz="3400" b="1">
                <a:solidFill>
                  <a:srgbClr val="B08D57"/>
                </a:solidFill>
                <a:latin typeface="Montserrat"/>
              </a:rPr>
              <a:t>05</a:t>
            </a:r>
          </a:p>
        </p:txBody>
      </p:sp>
      <p:sp>
        <p:nvSpPr>
          <p:cNvPr id="21" name="gd-topics-text"/>
          <p:cNvSpPr txBox="1"/>
          <p:nvPr/>
        </p:nvSpPr>
        <p:spPr>
          <a:xfrm>
            <a:off x="2392150" y="4254300"/>
            <a:ext cx="2010166" cy="1300000"/>
          </a:xfrm>
          <a:prstGeom prst="rect">
            <a:avLst/>
          </a:prstGeom>
          <a:noFill/>
        </p:spPr>
        <p:txBody>
          <a:bodyPr wrap="square" anchor="t" lIns="0" rIns="0" tIns="0" bIns="0">
            <a:spAutoFit/>
          </a:bodyPr>
          <a:lstStyle/>
          <a:p>
            <a:pPr>
              <a:lnSpc>
                <a:spcPct val="95000"/>
              </a:lnSpc>
              <a:spcBef>
                <a:spcPts val="0"/>
              </a:spcBef>
            </a:pPr>
            <a:r>
              <a:rPr sz="1700" b="1">
                <a:solidFill>
                  <a:srgbClr val="2D3436"/>
                </a:solidFill>
                <a:latin typeface="Montserrat"/>
              </a:rPr>
              <a:t>Agent Mode Basics</a:t>
            </a:r>
          </a:p>
          <a:p>
            <a:pPr>
              <a:lnSpc>
                <a:spcPct val="95000"/>
              </a:lnSpc>
              <a:spcBef>
                <a:spcPts val="600"/>
              </a:spcBef>
            </a:pPr>
            <a:r>
              <a:rPr sz="1200" b="0">
                <a:solidFill>
                  <a:srgbClr val="595F67"/>
                </a:solidFill>
                <a:latin typeface="Poppins"/>
              </a:rPr>
              <a:t>Local agents for multi-step work</a:t>
            </a:r>
          </a:p>
        </p:txBody>
      </p:sp>
      <p:sp>
        <p:nvSpPr>
          <p:cNvPr id="22" name="gd-topics-box"/>
          <p:cNvSpPr/>
          <p:nvPr/>
        </p:nvSpPr>
        <p:spPr>
          <a:xfrm>
            <a:off x="4860916" y="33843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gd-topics-box"/>
          <p:cNvSpPr/>
          <p:nvPr/>
        </p:nvSpPr>
        <p:spPr>
          <a:xfrm>
            <a:off x="4860916"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d-topics-text"/>
          <p:cNvSpPr txBox="1"/>
          <p:nvPr/>
        </p:nvSpPr>
        <p:spPr>
          <a:xfrm>
            <a:off x="5090916" y="3614300"/>
            <a:ext cx="2010166" cy="560000"/>
          </a:xfrm>
          <a:prstGeom prst="rect">
            <a:avLst/>
          </a:prstGeom>
          <a:noFill/>
        </p:spPr>
        <p:txBody>
          <a:bodyPr wrap="square" anchor="t" lIns="0" rIns="0" tIns="0" bIns="0">
            <a:spAutoFit/>
          </a:bodyPr>
          <a:lstStyle/>
          <a:p>
            <a:pPr>
              <a:lnSpc>
                <a:spcPct val="95000"/>
              </a:lnSpc>
              <a:spcBef>
                <a:spcPts val="0"/>
              </a:spcBef>
            </a:pPr>
            <a:r>
              <a:rPr sz="3400" b="1">
                <a:solidFill>
                  <a:srgbClr val="B08D57"/>
                </a:solidFill>
                <a:latin typeface="Montserrat"/>
              </a:rPr>
              <a:t>06</a:t>
            </a:r>
          </a:p>
        </p:txBody>
      </p:sp>
      <p:sp>
        <p:nvSpPr>
          <p:cNvPr id="25" name="gd-topics-text"/>
          <p:cNvSpPr txBox="1"/>
          <p:nvPr/>
        </p:nvSpPr>
        <p:spPr>
          <a:xfrm>
            <a:off x="5090916" y="4254300"/>
            <a:ext cx="2010166" cy="1300000"/>
          </a:xfrm>
          <a:prstGeom prst="rect">
            <a:avLst/>
          </a:prstGeom>
          <a:noFill/>
        </p:spPr>
        <p:txBody>
          <a:bodyPr wrap="square" anchor="t" lIns="0" rIns="0" tIns="0" bIns="0">
            <a:spAutoFit/>
          </a:bodyPr>
          <a:lstStyle/>
          <a:p>
            <a:pPr>
              <a:lnSpc>
                <a:spcPct val="95000"/>
              </a:lnSpc>
              <a:spcBef>
                <a:spcPts val="0"/>
              </a:spcBef>
            </a:pPr>
            <a:r>
              <a:rPr sz="1700" b="1">
                <a:solidFill>
                  <a:srgbClr val="2D3436"/>
                </a:solidFill>
                <a:latin typeface="Montserrat"/>
              </a:rPr>
              <a:t>Pull Requests &amp; Code Reviews</a:t>
            </a:r>
          </a:p>
          <a:p>
            <a:pPr>
              <a:lnSpc>
                <a:spcPct val="95000"/>
              </a:lnSpc>
              <a:spcBef>
                <a:spcPts val="600"/>
              </a:spcBef>
            </a:pPr>
            <a:r>
              <a:rPr sz="1200" b="0">
                <a:solidFill>
                  <a:srgbClr val="595F67"/>
                </a:solidFill>
                <a:latin typeface="Poppins"/>
              </a:rPr>
              <a:t>PR descriptions and review feedback</a:t>
            </a:r>
          </a:p>
        </p:txBody>
      </p:sp>
      <p:sp>
        <p:nvSpPr>
          <p:cNvPr id="26" name="gd-topics-box"/>
          <p:cNvSpPr/>
          <p:nvPr/>
        </p:nvSpPr>
        <p:spPr>
          <a:xfrm>
            <a:off x="7559682" y="33843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gd-topics-box"/>
          <p:cNvSpPr/>
          <p:nvPr/>
        </p:nvSpPr>
        <p:spPr>
          <a:xfrm>
            <a:off x="7559682"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gd-topics-text"/>
          <p:cNvSpPr txBox="1"/>
          <p:nvPr/>
        </p:nvSpPr>
        <p:spPr>
          <a:xfrm>
            <a:off x="7789682" y="3614300"/>
            <a:ext cx="2010166" cy="560000"/>
          </a:xfrm>
          <a:prstGeom prst="rect">
            <a:avLst/>
          </a:prstGeom>
          <a:noFill/>
        </p:spPr>
        <p:txBody>
          <a:bodyPr wrap="square" anchor="t" lIns="0" rIns="0" tIns="0" bIns="0">
            <a:spAutoFit/>
          </a:bodyPr>
          <a:lstStyle/>
          <a:p>
            <a:pPr>
              <a:lnSpc>
                <a:spcPct val="95000"/>
              </a:lnSpc>
              <a:spcBef>
                <a:spcPts val="0"/>
              </a:spcBef>
            </a:pPr>
            <a:r>
              <a:rPr sz="3400" b="1">
                <a:solidFill>
                  <a:srgbClr val="B08D57"/>
                </a:solidFill>
                <a:latin typeface="Montserrat"/>
              </a:rPr>
              <a:t>07</a:t>
            </a:r>
          </a:p>
        </p:txBody>
      </p:sp>
      <p:sp>
        <p:nvSpPr>
          <p:cNvPr id="29" name="gd-topics-text"/>
          <p:cNvSpPr txBox="1"/>
          <p:nvPr/>
        </p:nvSpPr>
        <p:spPr>
          <a:xfrm>
            <a:off x="7789682" y="4254300"/>
            <a:ext cx="2010166" cy="1300000"/>
          </a:xfrm>
          <a:prstGeom prst="rect">
            <a:avLst/>
          </a:prstGeom>
          <a:noFill/>
        </p:spPr>
        <p:txBody>
          <a:bodyPr wrap="square" anchor="t" lIns="0" rIns="0" tIns="0" bIns="0">
            <a:spAutoFit/>
          </a:bodyPr>
          <a:lstStyle/>
          <a:p>
            <a:pPr>
              <a:lnSpc>
                <a:spcPct val="95000"/>
              </a:lnSpc>
              <a:spcBef>
                <a:spcPts val="0"/>
              </a:spcBef>
            </a:pPr>
            <a:r>
              <a:rPr sz="1700" b="1">
                <a:solidFill>
                  <a:srgbClr val="2D3436"/>
                </a:solidFill>
                <a:latin typeface="Montserrat"/>
              </a:rPr>
              <a:t>Working in the Terminal</a:t>
            </a:r>
          </a:p>
          <a:p>
            <a:pPr>
              <a:lnSpc>
                <a:spcPct val="95000"/>
              </a:lnSpc>
              <a:spcBef>
                <a:spcPts val="600"/>
              </a:spcBef>
            </a:pPr>
            <a:r>
              <a:rPr sz="1200" b="0">
                <a:solidFill>
                  <a:srgbClr val="595F67"/>
                </a:solidFill>
                <a:latin typeface="Poppins"/>
              </a:rPr>
              <a:t>Agent-aware output and compression</a:t>
            </a:r>
          </a:p>
        </p:txBody>
      </p:sp>
      <p:sp>
        <p:nvSpPr>
          <p:cNvPr id="30"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gd-topics-text"/>
          <p:cNvSpPr txBox="1"/>
          <p:nvPr/>
        </p:nvSpPr>
        <p:spPr>
          <a:xfrm>
            <a:off x="812767" y="6290000"/>
            <a:ext cx="10566466" cy="300000"/>
          </a:xfrm>
          <a:prstGeom prst="rect">
            <a:avLst/>
          </a:prstGeom>
          <a:noFill/>
        </p:spPr>
        <p:txBody>
          <a:bodyPr wrap="square" anchor="t" lIns="0" rIns="0" tIns="0" bIns="0">
            <a:spAutoFit/>
          </a:bodyPr>
          <a:lstStyle/>
          <a:p>
            <a:pPr>
              <a:lnSpc>
                <a:spcPct val="95000"/>
              </a:lnSpc>
              <a:spcBef>
                <a:spcPts val="0"/>
              </a:spcBef>
            </a:pPr>
            <a:r>
              <a:rPr sz="1100" b="0">
                <a:solidFill>
                  <a:srgbClr val="595F67"/>
                </a:solidFill>
                <a:latin typeface="Poppins"/>
              </a:rPr>
              <a:t>Agentic Software Engineering using GitHub Copilot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1915815"/>
            <a:ext cx="6296860" cy="1181298"/>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0D0D0D"/>
                </a:solidFill>
                <a:latin typeface="Source Serif 4" pitchFamily="34" charset="0"/>
                <a:ea typeface="Source Serif 4" pitchFamily="34" charset="-122"/>
                <a:cs typeface="Source Serif 4" pitchFamily="34" charset="-120"/>
              </a:rPr>
              <a:t>Fundamentals &amp; Agent Mode Basics</a:t>
            </a:r>
            <a:endParaRPr lang="en-US" sz="3700" dirty="0"/>
          </a:p>
        </p:txBody>
      </p:sp>
      <p:sp>
        <p:nvSpPr>
          <p:cNvPr id="4" name="Text 1"/>
          <p:cNvSpPr/>
          <p:nvPr/>
        </p:nvSpPr>
        <p:spPr>
          <a:xfrm>
            <a:off x="661475" y="3172718"/>
            <a:ext cx="6296860" cy="295275"/>
          </a:xfrm>
          <a:prstGeom prst="rect">
            <a:avLst/>
          </a:prstGeom>
          <a:noFill/>
          <a:ln/>
        </p:spPr>
        <p:txBody>
          <a:bodyPr wrap="none" lIns="0" tIns="0" rIns="0" bIns="0" rtlCol="0" anchor="t"/>
          <a:lstStyle/>
          <a:p>
            <a:pPr marL="0" indent="0" algn="l">
              <a:lnSpc>
                <a:spcPct val="104000"/>
              </a:lnSpc>
              <a:buNone/>
            </a:pPr>
            <a:r>
              <a:rPr lang="en-US" sz="1850" dirty="0">
                <a:solidFill>
                  <a:srgbClr val="0D0D0D"/>
                </a:solidFill>
                <a:latin typeface="Source Serif 4" pitchFamily="34" charset="0"/>
                <a:ea typeface="Source Serif 4" pitchFamily="34" charset="-122"/>
                <a:cs typeface="Source Serif 4" pitchFamily="34" charset="-120"/>
              </a:rPr>
              <a:t>GitHub Copilot Essentials</a:t>
            </a:r>
            <a:endParaRPr lang="en-US" sz="1850" dirty="0"/>
          </a:p>
        </p:txBody>
      </p:sp>
      <p:sp>
        <p:nvSpPr>
          <p:cNvPr id="5" name="Text 2"/>
          <p:cNvSpPr/>
          <p:nvPr/>
        </p:nvSpPr>
        <p:spPr>
          <a:xfrm>
            <a:off x="661475" y="3751461"/>
            <a:ext cx="6296860" cy="1190625"/>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50" b="1" dirty="0">
                <a:solidFill>
                  <a:srgbClr val="1B365D"/>
                </a:solidFill>
                <a:latin typeface="Public Sans Bold" pitchFamily="34" charset="0"/>
                <a:ea typeface="Public Sans Bold" pitchFamily="34" charset="-122"/>
                <a:cs typeface="Public Sans Bold" pitchFamily="34" charset="-120"/>
              </a:rPr>
              <a:t>Essentials</a:t>
            </a:r>
            <a:r>
              <a:rPr lang="en-US" sz="1450" dirty="0">
                <a:solidFill>
                  <a:srgbClr val="1B365D"/>
                </a:solidFill>
                <a:latin typeface="Public Sans Light" pitchFamily="34" charset="0"/>
                <a:ea typeface="Public Sans Light" pitchFamily="34" charset="-122"/>
                <a:cs typeface="Public Sans Light" pitchFamily="34" charset="-120"/>
              </a:rPr>
              <a:t>: inline suggestions, chat, prompting, context engineering and model selection</a:t>
            </a:r>
            <a:endParaRPr lang="en-US" sz="1450" dirty="0"/>
          </a:p>
          <a:p>
            <a:pPr marL="294640" indent="-294640" algn="l">
              <a:lnSpc>
                <a:spcPct val="117000"/>
              </a:lnSpc>
              <a:buSzPct val="100000"/>
              <a:buChar char="•"/>
            </a:pPr>
            <a:r>
              <a:rPr lang="en-US" sz="1450" b="1" dirty="0">
                <a:solidFill>
                  <a:srgbClr val="1B365D"/>
                </a:solidFill>
                <a:latin typeface="Public Sans Bold" pitchFamily="34" charset="0"/>
                <a:ea typeface="Public Sans Bold" pitchFamily="34" charset="-122"/>
                <a:cs typeface="Public Sans Bold" pitchFamily="34" charset="-120"/>
              </a:rPr>
              <a:t>Agent Mode</a:t>
            </a:r>
            <a:r>
              <a:rPr lang="en-US" sz="1450" dirty="0">
                <a:solidFill>
                  <a:srgbClr val="1B365D"/>
                </a:solidFill>
                <a:latin typeface="Public Sans Light" pitchFamily="34" charset="0"/>
                <a:ea typeface="Public Sans Light" pitchFamily="34" charset="-122"/>
                <a:cs typeface="Public Sans Light" pitchFamily="34" charset="-120"/>
              </a:rPr>
              <a:t>: a local agent driving real, multi-step work</a:t>
            </a:r>
            <a:endParaRPr lang="en-US" sz="1450" dirty="0"/>
          </a:p>
          <a:p>
            <a:pPr marL="294640" indent="-294640" algn="l">
              <a:lnSpc>
                <a:spcPct val="117000"/>
              </a:lnSpc>
              <a:buSzPct val="100000"/>
              <a:buChar char="•"/>
            </a:pPr>
            <a:r>
              <a:rPr lang="en-US" sz="1450" b="1" dirty="0">
                <a:solidFill>
                  <a:srgbClr val="1B365D"/>
                </a:solidFill>
                <a:latin typeface="Public Sans Bold" pitchFamily="34" charset="0"/>
                <a:ea typeface="Public Sans Bold" pitchFamily="34" charset="-122"/>
                <a:cs typeface="Public Sans Bold" pitchFamily="34" charset="-120"/>
              </a:rPr>
              <a:t>Guardrails</a:t>
            </a:r>
            <a:r>
              <a:rPr lang="en-US" sz="1450" dirty="0">
                <a:solidFill>
                  <a:srgbClr val="1B365D"/>
                </a:solidFill>
                <a:latin typeface="Public Sans Light" pitchFamily="34" charset="0"/>
                <a:ea typeface="Public Sans Light" pitchFamily="34" charset="-122"/>
                <a:cs typeface="Public Sans Light" pitchFamily="34" charset="-120"/>
              </a:rPr>
              <a:t>: pull requests, secrets kept out of context and a terminal built for agents</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747911"/>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0D0D0D"/>
                </a:solidFill>
                <a:latin typeface="Source Serif 4" pitchFamily="34" charset="0"/>
                <a:ea typeface="Source Serif 4" pitchFamily="34" charset="-122"/>
                <a:cs typeface="Source Serif 4" pitchFamily="34" charset="-120"/>
              </a:rPr>
              <a:t>Overview</a:t>
            </a:r>
            <a:endParaRPr lang="en-US" sz="3700" dirty="0"/>
          </a:p>
        </p:txBody>
      </p:sp>
      <p:sp>
        <p:nvSpPr>
          <p:cNvPr id="3" name="Text 1"/>
          <p:cNvSpPr/>
          <p:nvPr/>
        </p:nvSpPr>
        <p:spPr>
          <a:xfrm>
            <a:off x="661475" y="1414165"/>
            <a:ext cx="10868745" cy="295275"/>
          </a:xfrm>
          <a:prstGeom prst="rect">
            <a:avLst/>
          </a:prstGeom>
          <a:noFill/>
          <a:ln/>
        </p:spPr>
        <p:txBody>
          <a:bodyPr wrap="none" lIns="0" tIns="0" rIns="0" bIns="0" rtlCol="0" anchor="t"/>
          <a:lstStyle/>
          <a:p>
            <a:pPr marL="0" indent="0" algn="l">
              <a:lnSpc>
                <a:spcPct val="104000"/>
              </a:lnSpc>
              <a:buNone/>
            </a:pPr>
            <a:r>
              <a:rPr lang="en-US" sz="1850" dirty="0">
                <a:solidFill>
                  <a:srgbClr val="0D0D0D"/>
                </a:solidFill>
                <a:latin typeface="Source Serif 4" pitchFamily="34" charset="0"/>
                <a:ea typeface="Source Serif 4" pitchFamily="34" charset="-122"/>
                <a:cs typeface="Source Serif 4" pitchFamily="34" charset="-120"/>
              </a:rPr>
              <a:t>The path through the fundamentals</a:t>
            </a:r>
            <a:endParaRPr lang="en-US" sz="1850" dirty="0"/>
          </a:p>
        </p:txBody>
      </p:sp>
      <p:sp>
        <p:nvSpPr>
          <p:cNvPr id="4" name="Text 2"/>
          <p:cNvSpPr/>
          <p:nvPr/>
        </p:nvSpPr>
        <p:spPr>
          <a:xfrm>
            <a:off x="661475" y="2162969"/>
            <a:ext cx="3844134" cy="2579787"/>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Start with Copilot's two modes and settings, model selection and the context window</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Prompting, inline suggestions, slash commands and context variables in one place</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Pivot to </a:t>
            </a:r>
            <a:r>
              <a:rPr lang="en-US" sz="1450" b="1" dirty="0">
                <a:solidFill>
                  <a:srgbClr val="1B365D"/>
                </a:solidFill>
                <a:latin typeface="Public Sans Bold" pitchFamily="34" charset="0"/>
                <a:ea typeface="Public Sans Bold" pitchFamily="34" charset="-122"/>
                <a:cs typeface="Public Sans Bold" pitchFamily="34" charset="-120"/>
              </a:rPr>
              <a:t>Agent Mode</a:t>
            </a:r>
            <a:r>
              <a:rPr lang="en-US" sz="1450" dirty="0">
                <a:solidFill>
                  <a:srgbClr val="1B365D"/>
                </a:solidFill>
                <a:latin typeface="Public Sans Light" pitchFamily="34" charset="0"/>
                <a:ea typeface="Public Sans Light" pitchFamily="34" charset="-122"/>
                <a:cs typeface="Public Sans Light" pitchFamily="34" charset="-120"/>
              </a:rPr>
              <a:t>: scaffold a project, fix an error, run an update</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Finish with pull requests and the terminal the agent works in</a:t>
            </a:r>
            <a:endParaRPr lang="en-US" sz="1450" dirty="0"/>
          </a:p>
        </p:txBody>
      </p:sp>
      <p:pic>
        <p:nvPicPr>
          <p:cNvPr id="5" name="Image 0" descr="preencoded.png"/>
          <p:cNvPicPr>
            <a:picLocks noChangeAspect="1"/>
          </p:cNvPicPr>
          <p:nvPr/>
        </p:nvPicPr>
        <p:blipFill>
          <a:blip r:embed="rId3"/>
          <a:stretch>
            <a:fillRect/>
          </a:stretch>
        </p:blipFill>
        <p:spPr>
          <a:xfrm>
            <a:off x="4973116" y="2205534"/>
            <a:ext cx="6563355" cy="369193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7F5"/>
        </a:solidFill>
        <a:effectLst/>
      </p:bgPr>
    </p:bg>
    <p:spTree>
      <p:nvGrpSpPr>
        <p:cNvPr id="1" name=""/>
        <p:cNvGrpSpPr/>
        <p:nvPr/>
      </p:nvGrpSpPr>
      <p:grpSpPr/>
      <p:sp>
        <p:nvSpPr>
          <p:cNvPr id="2" name="gd-topics-text"/>
          <p:cNvSpPr txBox="1"/>
          <p:nvPr/>
        </p:nvSpPr>
        <p:spPr>
          <a:xfrm>
            <a:off x="692767" y="1150000"/>
            <a:ext cx="4900000" cy="3600000"/>
          </a:xfrm>
          <a:prstGeom prst="rect">
            <a:avLst/>
          </a:prstGeom>
          <a:noFill/>
        </p:spPr>
        <p:txBody>
          <a:bodyPr wrap="square" anchor="ctr" lIns="0" rIns="0" tIns="0" bIns="0">
            <a:spAutoFit/>
          </a:bodyPr>
          <a:lstStyle/>
          <a:p>
            <a:pPr>
              <a:lnSpc>
                <a:spcPct val="95000"/>
              </a:lnSpc>
              <a:spcBef>
                <a:spcPts val="0"/>
              </a:spcBef>
            </a:pPr>
            <a:r>
              <a:rPr sz="24000" b="1">
                <a:solidFill>
                  <a:srgbClr val="D4B483"/>
                </a:solidFill>
                <a:latin typeface="Montserrat"/>
              </a:rPr>
              <a:t>01</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gd-topics-text"/>
          <p:cNvSpPr txBox="1"/>
          <p:nvPr/>
        </p:nvSpPr>
        <p:spPr>
          <a:xfrm>
            <a:off x="6100000" y="1500000"/>
            <a:ext cx="5279233" cy="2900000"/>
          </a:xfrm>
          <a:prstGeom prst="rect">
            <a:avLst/>
          </a:prstGeom>
          <a:noFill/>
        </p:spPr>
        <p:txBody>
          <a:bodyPr wrap="square" anchor="ctr" lIns="0" rIns="0" tIns="0" bIns="0">
            <a:spAutoFit/>
          </a:bodyPr>
          <a:lstStyle/>
          <a:p>
            <a:pPr>
              <a:lnSpc>
                <a:spcPct val="95000"/>
              </a:lnSpc>
              <a:spcBef>
                <a:spcPts val="0"/>
              </a:spcBef>
            </a:pPr>
            <a:r>
              <a:rPr sz="3200" b="1">
                <a:solidFill>
                  <a:srgbClr val="2D3436"/>
                </a:solidFill>
                <a:latin typeface="Montserrat"/>
              </a:rPr>
              <a:t>Getting Started &amp; Configuring Copilot</a:t>
            </a:r>
          </a:p>
          <a:p>
            <a:pPr>
              <a:lnSpc>
                <a:spcPct val="95000"/>
              </a:lnSpc>
              <a:spcBef>
                <a:spcPts val="1400"/>
              </a:spcBef>
            </a:pPr>
            <a:r>
              <a:rPr sz="2000" b="0">
                <a:solidFill>
                  <a:srgbClr val="595F67"/>
                </a:solidFill>
                <a:latin typeface="Poppins"/>
              </a:rPr>
              <a:t>Modes, settings and keeping secrets out</a:t>
            </a:r>
          </a:p>
        </p:txBody>
      </p:sp>
      <p:sp>
        <p:nvSpPr>
          <p:cNvPr id="5" name="gd-topics-box"/>
          <p:cNvSpPr/>
          <p:nvPr/>
        </p:nvSpPr>
        <p:spPr>
          <a:xfrm>
            <a:off x="6100000"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gd-topics-text"/>
          <p:cNvSpPr txBox="1"/>
          <p:nvPr/>
        </p:nvSpPr>
        <p:spPr>
          <a:xfrm>
            <a:off x="812767" y="6290000"/>
            <a:ext cx="10566466" cy="300000"/>
          </a:xfrm>
          <a:prstGeom prst="rect">
            <a:avLst/>
          </a:prstGeom>
          <a:noFill/>
        </p:spPr>
        <p:txBody>
          <a:bodyPr wrap="square" anchor="t" lIns="0" rIns="0" tIns="0" bIns="0">
            <a:spAutoFit/>
          </a:bodyPr>
          <a:lstStyle/>
          <a:p>
            <a:pPr>
              <a:lnSpc>
                <a:spcPct val="95000"/>
              </a:lnSpc>
              <a:spcBef>
                <a:spcPts val="0"/>
              </a:spcBef>
            </a:pPr>
            <a:r>
              <a:rPr sz="1100" b="0">
                <a:solidFill>
                  <a:srgbClr val="595F67"/>
                </a:solidFill>
                <a:latin typeface="Poppins"/>
              </a:rPr>
              <a:t>Agentic Software Engineering using GitHub Copilot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747911"/>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0D0D0D"/>
                </a:solidFill>
                <a:latin typeface="Source Serif 4" pitchFamily="34" charset="0"/>
                <a:ea typeface="Source Serif 4" pitchFamily="34" charset="-122"/>
                <a:cs typeface="Source Serif 4" pitchFamily="34" charset="-120"/>
              </a:rPr>
              <a:t>AI-assisted coding and agentic engineering</a:t>
            </a:r>
            <a:endParaRPr lang="en-US" sz="3700" dirty="0"/>
          </a:p>
        </p:txBody>
      </p:sp>
      <p:sp>
        <p:nvSpPr>
          <p:cNvPr id="3" name="Text 1"/>
          <p:cNvSpPr/>
          <p:nvPr/>
        </p:nvSpPr>
        <p:spPr>
          <a:xfrm>
            <a:off x="661475" y="1414165"/>
            <a:ext cx="10868745" cy="295275"/>
          </a:xfrm>
          <a:prstGeom prst="rect">
            <a:avLst/>
          </a:prstGeom>
          <a:noFill/>
          <a:ln/>
        </p:spPr>
        <p:txBody>
          <a:bodyPr wrap="none" lIns="0" tIns="0" rIns="0" bIns="0" rtlCol="0" anchor="t"/>
          <a:lstStyle/>
          <a:p>
            <a:pPr marL="0" indent="0" algn="l">
              <a:lnSpc>
                <a:spcPct val="104000"/>
              </a:lnSpc>
              <a:buNone/>
            </a:pPr>
            <a:r>
              <a:rPr lang="en-US" sz="1850" dirty="0">
                <a:solidFill>
                  <a:srgbClr val="0D0D0D"/>
                </a:solidFill>
                <a:latin typeface="Source Serif 4" pitchFamily="34" charset="0"/>
                <a:ea typeface="Source Serif 4" pitchFamily="34" charset="-122"/>
                <a:cs typeface="Source Serif 4" pitchFamily="34" charset="-120"/>
              </a:rPr>
              <a:t>AI Assisted Coding and Agentic Software Engineering</a:t>
            </a:r>
            <a:endParaRPr lang="en-US" sz="1850" dirty="0"/>
          </a:p>
        </p:txBody>
      </p:sp>
      <p:sp>
        <p:nvSpPr>
          <p:cNvPr id="4" name="Text 2"/>
          <p:cNvSpPr/>
          <p:nvPr/>
        </p:nvSpPr>
        <p:spPr>
          <a:xfrm>
            <a:off x="661475" y="2162969"/>
            <a:ext cx="3844134" cy="2844403"/>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50" b="1" dirty="0">
                <a:solidFill>
                  <a:srgbClr val="1B365D"/>
                </a:solidFill>
                <a:latin typeface="Public Sans Bold" pitchFamily="34" charset="0"/>
                <a:ea typeface="Public Sans Bold" pitchFamily="34" charset="-122"/>
                <a:cs typeface="Public Sans Bold" pitchFamily="34" charset="-120"/>
              </a:rPr>
              <a:t>AI Assisted Coding</a:t>
            </a:r>
            <a:r>
              <a:rPr lang="en-US" sz="1450" dirty="0">
                <a:solidFill>
                  <a:srgbClr val="1B365D"/>
                </a:solidFill>
                <a:latin typeface="Public Sans Light" pitchFamily="34" charset="0"/>
                <a:ea typeface="Public Sans Light" pitchFamily="34" charset="-122"/>
                <a:cs typeface="Public Sans Light" pitchFamily="34" charset="-120"/>
              </a:rPr>
              <a:t>: real-time completions and suggestions as you type</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You accept or modify the highlighted snippet directly</a:t>
            </a:r>
            <a:endParaRPr lang="en-US" sz="1450" dirty="0"/>
          </a:p>
          <a:p>
            <a:pPr marL="294640" indent="-294640" algn="l">
              <a:lnSpc>
                <a:spcPct val="117000"/>
              </a:lnSpc>
              <a:buSzPct val="100000"/>
              <a:buChar char="•"/>
            </a:pPr>
            <a:r>
              <a:rPr lang="en-US" sz="1450" b="1" dirty="0">
                <a:solidFill>
                  <a:srgbClr val="1B365D"/>
                </a:solidFill>
                <a:latin typeface="Public Sans Bold" pitchFamily="34" charset="0"/>
                <a:ea typeface="Public Sans Bold" pitchFamily="34" charset="-122"/>
                <a:cs typeface="Public Sans Bold" pitchFamily="34" charset="-120"/>
              </a:rPr>
              <a:t>Agentic Software Engineering</a:t>
            </a:r>
            <a:r>
              <a:rPr lang="en-US" sz="1450" dirty="0">
                <a:solidFill>
                  <a:srgbClr val="1B365D"/>
                </a:solidFill>
                <a:latin typeface="Public Sans Light" pitchFamily="34" charset="0"/>
                <a:ea typeface="Public Sans Light" pitchFamily="34" charset="-122"/>
                <a:cs typeface="Public Sans Light" pitchFamily="34" charset="-120"/>
              </a:rPr>
              <a:t>: specialized agents work autonomously toward an assigned goal</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Agents orchestrate multiple tools and decisions to deliver complete solutions</a:t>
            </a:r>
            <a:endParaRPr lang="en-US" sz="1450" dirty="0"/>
          </a:p>
        </p:txBody>
      </p:sp>
      <p:pic>
        <p:nvPicPr>
          <p:cNvPr id="5" name="Image 0" descr="preencoded.png"/>
          <p:cNvPicPr>
            <a:picLocks noChangeAspect="1"/>
          </p:cNvPicPr>
          <p:nvPr/>
        </p:nvPicPr>
        <p:blipFill>
          <a:blip r:embed="rId3"/>
          <a:stretch>
            <a:fillRect/>
          </a:stretch>
        </p:blipFill>
        <p:spPr>
          <a:xfrm>
            <a:off x="4973116" y="2205534"/>
            <a:ext cx="6563355" cy="369193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747911"/>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0D0D0D"/>
                </a:solidFill>
                <a:latin typeface="Source Serif 4" pitchFamily="34" charset="0"/>
                <a:ea typeface="Source Serif 4" pitchFamily="34" charset="-122"/>
                <a:cs typeface="Source Serif 4" pitchFamily="34" charset="-120"/>
              </a:rPr>
              <a:t>Copilot settings scopes</a:t>
            </a:r>
            <a:endParaRPr lang="en-US" sz="3700" dirty="0"/>
          </a:p>
        </p:txBody>
      </p:sp>
      <p:sp>
        <p:nvSpPr>
          <p:cNvPr id="3" name="Text 1"/>
          <p:cNvSpPr/>
          <p:nvPr/>
        </p:nvSpPr>
        <p:spPr>
          <a:xfrm>
            <a:off x="661475" y="1414165"/>
            <a:ext cx="10868745" cy="295275"/>
          </a:xfrm>
          <a:prstGeom prst="rect">
            <a:avLst/>
          </a:prstGeom>
          <a:noFill/>
          <a:ln/>
        </p:spPr>
        <p:txBody>
          <a:bodyPr wrap="none" lIns="0" tIns="0" rIns="0" bIns="0" rtlCol="0" anchor="t"/>
          <a:lstStyle/>
          <a:p>
            <a:pPr marL="0" indent="0" algn="l">
              <a:lnSpc>
                <a:spcPct val="104000"/>
              </a:lnSpc>
              <a:buNone/>
            </a:pPr>
            <a:r>
              <a:rPr lang="en-US" sz="1850" dirty="0">
                <a:solidFill>
                  <a:srgbClr val="0D0D0D"/>
                </a:solidFill>
                <a:latin typeface="Source Serif 4" pitchFamily="34" charset="0"/>
                <a:ea typeface="Source Serif 4" pitchFamily="34" charset="-122"/>
                <a:cs typeface="Source Serif 4" pitchFamily="34" charset="-120"/>
              </a:rPr>
              <a:t>User, workspace and dev container</a:t>
            </a:r>
            <a:endParaRPr lang="en-US" sz="1850" dirty="0"/>
          </a:p>
        </p:txBody>
      </p:sp>
      <p:sp>
        <p:nvSpPr>
          <p:cNvPr id="4" name="Text 2"/>
          <p:cNvSpPr/>
          <p:nvPr/>
        </p:nvSpPr>
        <p:spPr>
          <a:xfrm>
            <a:off x="661475" y="2162969"/>
            <a:ext cx="3844134" cy="3399036"/>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50" b="1" dirty="0">
                <a:solidFill>
                  <a:srgbClr val="1B365D"/>
                </a:solidFill>
                <a:latin typeface="Public Sans Bold" pitchFamily="34" charset="0"/>
                <a:ea typeface="Public Sans Bold" pitchFamily="34" charset="-122"/>
                <a:cs typeface="Public Sans Bold" pitchFamily="34" charset="-120"/>
              </a:rPr>
              <a:t>User settings</a:t>
            </a:r>
            <a:r>
              <a:rPr lang="en-US" sz="1450" dirty="0">
                <a:solidFill>
                  <a:srgbClr val="1B365D"/>
                </a:solidFill>
                <a:latin typeface="Public Sans Light" pitchFamily="34" charset="0"/>
                <a:ea typeface="Public Sans Light" pitchFamily="34" charset="-122"/>
                <a:cs typeface="Public Sans Light" pitchFamily="34" charset="-120"/>
              </a:rPr>
              <a:t>: personal preferences across all workspaces</a:t>
            </a:r>
            <a:endParaRPr lang="en-US" sz="1450" dirty="0"/>
          </a:p>
          <a:p>
            <a:pPr marL="294640" indent="-294640" algn="l">
              <a:lnSpc>
                <a:spcPct val="117000"/>
              </a:lnSpc>
              <a:buSzPct val="100000"/>
              <a:buChar char="•"/>
            </a:pPr>
            <a:r>
              <a:rPr lang="en-US" sz="1450" b="1" dirty="0">
                <a:solidFill>
                  <a:srgbClr val="1B365D"/>
                </a:solidFill>
                <a:latin typeface="Public Sans Bold" pitchFamily="34" charset="0"/>
                <a:ea typeface="Public Sans Bold" pitchFamily="34" charset="-122"/>
                <a:cs typeface="Public Sans Bold" pitchFamily="34" charset="-120"/>
              </a:rPr>
              <a:t>Workspace</a:t>
            </a:r>
            <a:r>
              <a:rPr lang="en-US" sz="1450" dirty="0">
                <a:solidFill>
                  <a:srgbClr val="1B365D"/>
                </a:solidFill>
                <a:latin typeface="Public Sans Light" pitchFamily="34" charset="0"/>
                <a:ea typeface="Public Sans Light" pitchFamily="34" charset="-122"/>
                <a:cs typeface="Public Sans Light" pitchFamily="34" charset="-120"/>
              </a:rPr>
              <a:t> </a:t>
            </a:r>
            <a:r>
              <a:rPr lang="en-US" sz="1450" dirty="0">
                <a:solidFill>
                  <a:srgbClr val="1B365D"/>
                </a:solidFill>
                <a:highlight>
                  <a:srgbClr val="F2F2F2"/>
                </a:highlight>
                <a:latin typeface="Consolas" pitchFamily="34" charset="0"/>
                <a:ea typeface="Consolas" pitchFamily="34" charset="-122"/>
                <a:cs typeface="Consolas" pitchFamily="34" charset="-120"/>
              </a:rPr>
              <a:t>.vscode/settings.json</a:t>
            </a:r>
            <a:r>
              <a:rPr lang="en-US" sz="1450" dirty="0">
                <a:solidFill>
                  <a:srgbClr val="1B365D"/>
                </a:solidFill>
                <a:latin typeface="Public Sans Light" pitchFamily="34" charset="0"/>
                <a:ea typeface="Public Sans Light" pitchFamily="34" charset="-122"/>
                <a:cs typeface="Public Sans Light" pitchFamily="34" charset="-120"/>
              </a:rPr>
              <a:t>: project overrides for team consistency</a:t>
            </a:r>
            <a:endParaRPr lang="en-US" sz="1450" dirty="0"/>
          </a:p>
          <a:p>
            <a:pPr marL="294640" indent="-294640" algn="l">
              <a:lnSpc>
                <a:spcPct val="117000"/>
              </a:lnSpc>
              <a:buSzPct val="100000"/>
              <a:buChar char="•"/>
            </a:pPr>
            <a:r>
              <a:rPr lang="en-US" sz="1450" b="1" dirty="0">
                <a:solidFill>
                  <a:srgbClr val="1B365D"/>
                </a:solidFill>
                <a:latin typeface="Public Sans Bold" pitchFamily="34" charset="0"/>
                <a:ea typeface="Public Sans Bold" pitchFamily="34" charset="-122"/>
                <a:cs typeface="Public Sans Bold" pitchFamily="34" charset="-120"/>
              </a:rPr>
              <a:t>Dev Container</a:t>
            </a:r>
            <a:r>
              <a:rPr lang="en-US" sz="1450" dirty="0">
                <a:solidFill>
                  <a:srgbClr val="1B365D"/>
                </a:solidFill>
                <a:latin typeface="Public Sans Light" pitchFamily="34" charset="0"/>
                <a:ea typeface="Public Sans Light" pitchFamily="34" charset="-122"/>
                <a:cs typeface="Public Sans Light" pitchFamily="34" charset="-120"/>
              </a:rPr>
              <a:t> </a:t>
            </a:r>
            <a:r>
              <a:rPr lang="en-US" sz="1450" dirty="0">
                <a:solidFill>
                  <a:srgbClr val="1B365D"/>
                </a:solidFill>
                <a:highlight>
                  <a:srgbClr val="F2F2F2"/>
                </a:highlight>
                <a:latin typeface="Consolas" pitchFamily="34" charset="0"/>
                <a:ea typeface="Consolas" pitchFamily="34" charset="-122"/>
                <a:cs typeface="Consolas" pitchFamily="34" charset="-120"/>
              </a:rPr>
              <a:t>.devcontainer/devcontainer.json</a:t>
            </a:r>
            <a:r>
              <a:rPr lang="en-US" sz="1450" dirty="0">
                <a:solidFill>
                  <a:srgbClr val="1B365D"/>
                </a:solidFill>
                <a:latin typeface="Public Sans Light" pitchFamily="34" charset="0"/>
                <a:ea typeface="Public Sans Light" pitchFamily="34" charset="-122"/>
                <a:cs typeface="Public Sans Light" pitchFamily="34" charset="-120"/>
              </a:rPr>
              <a:t>: standardized environments with extensions and tools</a:t>
            </a:r>
            <a:endParaRPr lang="en-US" sz="1450" dirty="0"/>
          </a:p>
          <a:p>
            <a:pPr marL="294640" indent="-294640" algn="l">
              <a:lnSpc>
                <a:spcPct val="117000"/>
              </a:lnSpc>
              <a:buSzPct val="100000"/>
              <a:buChar char="•"/>
            </a:pPr>
            <a:r>
              <a:rPr lang="en-US" sz="1450" dirty="0">
                <a:solidFill>
                  <a:srgbClr val="1B365D"/>
                </a:solidFill>
                <a:highlight>
                  <a:srgbClr val="F2F2F2"/>
                </a:highlight>
                <a:latin typeface="Consolas" pitchFamily="34" charset="0"/>
                <a:ea typeface="Consolas" pitchFamily="34" charset="-122"/>
                <a:cs typeface="Consolas" pitchFamily="34" charset="-120"/>
              </a:rPr>
              <a:t>github.copilot.enable</a:t>
            </a:r>
            <a:r>
              <a:rPr lang="en-US" sz="1450" dirty="0">
                <a:solidFill>
                  <a:srgbClr val="1B365D"/>
                </a:solidFill>
                <a:latin typeface="Public Sans Light" pitchFamily="34" charset="0"/>
                <a:ea typeface="Public Sans Light" pitchFamily="34" charset="-122"/>
                <a:cs typeface="Public Sans Light" pitchFamily="34" charset="-120"/>
              </a:rPr>
              <a:t> switches Copilot per language; </a:t>
            </a:r>
            <a:r>
              <a:rPr lang="en-US" sz="1450" dirty="0">
                <a:solidFill>
                  <a:srgbClr val="1B365D"/>
                </a:solidFill>
                <a:highlight>
                  <a:srgbClr val="F2F2F2"/>
                </a:highlight>
                <a:latin typeface="Consolas" pitchFamily="34" charset="0"/>
                <a:ea typeface="Consolas" pitchFamily="34" charset="-122"/>
                <a:cs typeface="Consolas" pitchFamily="34" charset="-120"/>
              </a:rPr>
              <a:t>editor.inlineSuggest.enabled</a:t>
            </a:r>
            <a:r>
              <a:rPr lang="en-US" sz="1450" dirty="0">
                <a:solidFill>
                  <a:srgbClr val="1B365D"/>
                </a:solidFill>
                <a:latin typeface="Public Sans Light" pitchFamily="34" charset="0"/>
                <a:ea typeface="Public Sans Light" pitchFamily="34" charset="-122"/>
                <a:cs typeface="Public Sans Light" pitchFamily="34" charset="-120"/>
              </a:rPr>
              <a:t> turns on inline suggestions</a:t>
            </a:r>
            <a:endParaRPr lang="en-US" sz="1450" dirty="0"/>
          </a:p>
        </p:txBody>
      </p:sp>
      <p:pic>
        <p:nvPicPr>
          <p:cNvPr id="5" name="Image 0" descr="preencoded.png"/>
          <p:cNvPicPr>
            <a:picLocks noChangeAspect="1"/>
          </p:cNvPicPr>
          <p:nvPr/>
        </p:nvPicPr>
        <p:blipFill>
          <a:blip r:embed="rId3"/>
          <a:stretch>
            <a:fillRect/>
          </a:stretch>
        </p:blipFill>
        <p:spPr>
          <a:xfrm>
            <a:off x="4973116" y="2205534"/>
            <a:ext cx="6563355" cy="369193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811609"/>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0D0D0D"/>
                </a:solidFill>
                <a:latin typeface="Source Serif 4" pitchFamily="34" charset="0"/>
                <a:ea typeface="Source Serif 4" pitchFamily="34" charset="-122"/>
                <a:cs typeface="Source Serif 4" pitchFamily="34" charset="-120"/>
              </a:rPr>
              <a:t>Keeping credentials out of context</a:t>
            </a:r>
            <a:endParaRPr lang="en-US" sz="3700" dirty="0"/>
          </a:p>
        </p:txBody>
      </p:sp>
      <p:sp>
        <p:nvSpPr>
          <p:cNvPr id="3" name="Text 1"/>
          <p:cNvSpPr/>
          <p:nvPr/>
        </p:nvSpPr>
        <p:spPr>
          <a:xfrm>
            <a:off x="661475" y="1477863"/>
            <a:ext cx="10868745" cy="295275"/>
          </a:xfrm>
          <a:prstGeom prst="rect">
            <a:avLst/>
          </a:prstGeom>
          <a:noFill/>
          <a:ln/>
        </p:spPr>
        <p:txBody>
          <a:bodyPr wrap="none" lIns="0" tIns="0" rIns="0" bIns="0" rtlCol="0" anchor="t"/>
          <a:lstStyle/>
          <a:p>
            <a:pPr marL="0" indent="0" algn="l">
              <a:lnSpc>
                <a:spcPct val="104000"/>
              </a:lnSpc>
              <a:buNone/>
            </a:pPr>
            <a:r>
              <a:rPr lang="en-US" sz="1850" dirty="0">
                <a:solidFill>
                  <a:srgbClr val="0D0D0D"/>
                </a:solidFill>
                <a:latin typeface="Source Serif 4" pitchFamily="34" charset="0"/>
                <a:ea typeface="Source Serif 4" pitchFamily="34" charset="-122"/>
                <a:cs typeface="Source Serif 4" pitchFamily="34" charset="-120"/>
              </a:rPr>
              <a:t>Five controls that keep credentials out of context</a:t>
            </a:r>
            <a:endParaRPr lang="en-US" sz="1850" dirty="0"/>
          </a:p>
        </p:txBody>
      </p:sp>
      <p:sp>
        <p:nvSpPr>
          <p:cNvPr id="4" name="Text 2"/>
          <p:cNvSpPr/>
          <p:nvPr/>
        </p:nvSpPr>
        <p:spPr>
          <a:xfrm>
            <a:off x="661475" y="2226667"/>
            <a:ext cx="4070744" cy="2334220"/>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Copilot sees open files, workspace content, terminal output and attachments</a:t>
            </a:r>
            <a:endParaRPr lang="en-US" sz="1450" dirty="0"/>
          </a:p>
          <a:p>
            <a:pPr marL="294640" indent="-294640" algn="l">
              <a:lnSpc>
                <a:spcPct val="117000"/>
              </a:lnSpc>
              <a:buSzPct val="100000"/>
              <a:buChar char="•"/>
            </a:pPr>
            <a:r>
              <a:rPr lang="en-US" sz="1450" dirty="0">
                <a:solidFill>
                  <a:srgbClr val="1B365D"/>
                </a:solidFill>
                <a:highlight>
                  <a:srgbClr val="F2F2F2"/>
                </a:highlight>
                <a:latin typeface="Consolas" pitchFamily="34" charset="0"/>
                <a:ea typeface="Consolas" pitchFamily="34" charset="-122"/>
                <a:cs typeface="Consolas" pitchFamily="34" charset="-120"/>
              </a:rPr>
              <a:t>.gitignore</a:t>
            </a:r>
            <a:r>
              <a:rPr lang="en-US" sz="1450" dirty="0">
                <a:solidFill>
                  <a:srgbClr val="1B365D"/>
                </a:solidFill>
                <a:latin typeface="Public Sans Light" pitchFamily="34" charset="0"/>
                <a:ea typeface="Public Sans Light" pitchFamily="34" charset="-122"/>
                <a:cs typeface="Public Sans Light" pitchFamily="34" charset="-120"/>
              </a:rPr>
              <a:t> keeps </a:t>
            </a:r>
            <a:r>
              <a:rPr lang="en-US" sz="1450" dirty="0">
                <a:solidFill>
                  <a:srgbClr val="1B365D"/>
                </a:solidFill>
                <a:highlight>
                  <a:srgbClr val="F2F2F2"/>
                </a:highlight>
                <a:latin typeface="Consolas" pitchFamily="34" charset="0"/>
                <a:ea typeface="Consolas" pitchFamily="34" charset="-122"/>
                <a:cs typeface="Consolas" pitchFamily="34" charset="-120"/>
              </a:rPr>
              <a:t>.env</a:t>
            </a:r>
            <a:r>
              <a:rPr lang="en-US" sz="1450" dirty="0">
                <a:solidFill>
                  <a:srgbClr val="1B365D"/>
                </a:solidFill>
                <a:latin typeface="Public Sans Light" pitchFamily="34" charset="0"/>
                <a:ea typeface="Public Sans Light" pitchFamily="34" charset="-122"/>
                <a:cs typeface="Public Sans Light" pitchFamily="34" charset="-120"/>
              </a:rPr>
              <a:t> files out of the repository</a:t>
            </a:r>
            <a:endParaRPr lang="en-US" sz="1450" dirty="0"/>
          </a:p>
          <a:p>
            <a:pPr marL="294640" indent="-294640" algn="l">
              <a:lnSpc>
                <a:spcPct val="117000"/>
              </a:lnSpc>
              <a:buSzPct val="100000"/>
              <a:buChar char="•"/>
            </a:pPr>
            <a:r>
              <a:rPr lang="en-US" sz="1450" dirty="0">
                <a:solidFill>
                  <a:srgbClr val="1B365D"/>
                </a:solidFill>
                <a:highlight>
                  <a:srgbClr val="F2F2F2"/>
                </a:highlight>
                <a:latin typeface="Consolas" pitchFamily="34" charset="0"/>
                <a:ea typeface="Consolas" pitchFamily="34" charset="-122"/>
                <a:cs typeface="Consolas" pitchFamily="34" charset="-120"/>
              </a:rPr>
              <a:t>github.copilot.enable</a:t>
            </a:r>
            <a:r>
              <a:rPr lang="en-US" sz="1450" dirty="0">
                <a:solidFill>
                  <a:srgbClr val="1B365D"/>
                </a:solidFill>
                <a:latin typeface="Public Sans Light" pitchFamily="34" charset="0"/>
                <a:ea typeface="Public Sans Light" pitchFamily="34" charset="-122"/>
                <a:cs typeface="Public Sans Light" pitchFamily="34" charset="-120"/>
              </a:rPr>
              <a:t> turns Copilot off for </a:t>
            </a:r>
            <a:r>
              <a:rPr lang="en-US" sz="1450" dirty="0">
                <a:solidFill>
                  <a:srgbClr val="1B365D"/>
                </a:solidFill>
                <a:highlight>
                  <a:srgbClr val="F2F2F2"/>
                </a:highlight>
                <a:latin typeface="Consolas" pitchFamily="34" charset="0"/>
                <a:ea typeface="Consolas" pitchFamily="34" charset="-122"/>
                <a:cs typeface="Consolas" pitchFamily="34" charset="-120"/>
              </a:rPr>
              <a:t>.env</a:t>
            </a:r>
            <a:r>
              <a:rPr lang="en-US" sz="1450" dirty="0">
                <a:solidFill>
                  <a:srgbClr val="1B365D"/>
                </a:solidFill>
                <a:latin typeface="Public Sans Light" pitchFamily="34" charset="0"/>
                <a:ea typeface="Public Sans Light" pitchFamily="34" charset="-122"/>
                <a:cs typeface="Public Sans Light" pitchFamily="34" charset="-120"/>
              </a:rPr>
              <a:t>, </a:t>
            </a:r>
            <a:r>
              <a:rPr lang="en-US" sz="1450" dirty="0">
                <a:solidFill>
                  <a:srgbClr val="1B365D"/>
                </a:solidFill>
                <a:highlight>
                  <a:srgbClr val="F2F2F2"/>
                </a:highlight>
                <a:latin typeface="Consolas" pitchFamily="34" charset="0"/>
                <a:ea typeface="Consolas" pitchFamily="34" charset="-122"/>
                <a:cs typeface="Consolas" pitchFamily="34" charset="-120"/>
              </a:rPr>
              <a:t>*.secrets</a:t>
            </a:r>
            <a:r>
              <a:rPr lang="en-US" sz="1450" dirty="0">
                <a:solidFill>
                  <a:srgbClr val="1B365D"/>
                </a:solidFill>
                <a:latin typeface="Public Sans Light" pitchFamily="34" charset="0"/>
                <a:ea typeface="Public Sans Light" pitchFamily="34" charset="-122"/>
                <a:cs typeface="Public Sans Light" pitchFamily="34" charset="-120"/>
              </a:rPr>
              <a:t> and </a:t>
            </a:r>
            <a:r>
              <a:rPr lang="en-US" sz="1450" dirty="0">
                <a:solidFill>
                  <a:srgbClr val="1B365D"/>
                </a:solidFill>
                <a:highlight>
                  <a:srgbClr val="F2F2F2"/>
                </a:highlight>
                <a:latin typeface="Consolas" pitchFamily="34" charset="0"/>
                <a:ea typeface="Consolas" pitchFamily="34" charset="-122"/>
                <a:cs typeface="Consolas" pitchFamily="34" charset="-120"/>
              </a:rPr>
              <a:t>*.private</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Custom instructions require placeholders; workspace trust limits untrusted projects</a:t>
            </a:r>
            <a:endParaRPr lang="en-US" sz="1450" dirty="0"/>
          </a:p>
        </p:txBody>
      </p:sp>
      <p:pic>
        <p:nvPicPr>
          <p:cNvPr id="5" name="Image 0" descr="preencoded.png"/>
          <p:cNvPicPr>
            <a:picLocks noChangeAspect="1"/>
          </p:cNvPicPr>
          <p:nvPr/>
        </p:nvPicPr>
        <p:blipFill>
          <a:blip r:embed="rId3"/>
          <a:stretch>
            <a:fillRect/>
          </a:stretch>
        </p:blipFill>
        <p:spPr>
          <a:xfrm>
            <a:off x="5199726" y="2269232"/>
            <a:ext cx="6336745" cy="3564434"/>
          </a:xfrm>
          <a:prstGeom prst="rect">
            <a:avLst/>
          </a:prstGeom>
        </p:spPr>
      </p:pic>
    </p:spTree>
    <p:extLst>
      <p:ext uri="{BB962C8B-B14F-4D97-AF65-F5344CB8AC3E}">
        <p14:creationId xmlns:p14="http://schemas.microsoft.com/office/powerpoint/2010/main" val="3465198243"/>
      </p:ext>
    </p:extLst>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7F5"/>
        </a:solidFill>
        <a:effectLst/>
      </p:bgPr>
    </p:bg>
    <p:spTree>
      <p:nvGrpSpPr>
        <p:cNvPr id="1" name=""/>
        <p:cNvGrpSpPr/>
        <p:nvPr/>
      </p:nvGrpSpPr>
      <p:grpSpPr/>
      <p:sp>
        <p:nvSpPr>
          <p:cNvPr id="2" name="gd-topics-text"/>
          <p:cNvSpPr txBox="1"/>
          <p:nvPr/>
        </p:nvSpPr>
        <p:spPr>
          <a:xfrm>
            <a:off x="692767" y="1150000"/>
            <a:ext cx="4900000" cy="3600000"/>
          </a:xfrm>
          <a:prstGeom prst="rect">
            <a:avLst/>
          </a:prstGeom>
          <a:noFill/>
        </p:spPr>
        <p:txBody>
          <a:bodyPr wrap="square" anchor="ctr" lIns="0" rIns="0" tIns="0" bIns="0">
            <a:spAutoFit/>
          </a:bodyPr>
          <a:lstStyle/>
          <a:p>
            <a:pPr>
              <a:lnSpc>
                <a:spcPct val="95000"/>
              </a:lnSpc>
              <a:spcBef>
                <a:spcPts val="0"/>
              </a:spcBef>
            </a:pPr>
            <a:r>
              <a:rPr sz="24000" b="1">
                <a:solidFill>
                  <a:srgbClr val="D4B483"/>
                </a:solidFill>
                <a:latin typeface="Montserrat"/>
              </a:rPr>
              <a:t>02</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gd-topics-text"/>
          <p:cNvSpPr txBox="1"/>
          <p:nvPr/>
        </p:nvSpPr>
        <p:spPr>
          <a:xfrm>
            <a:off x="6100000" y="1500000"/>
            <a:ext cx="5279233" cy="2900000"/>
          </a:xfrm>
          <a:prstGeom prst="rect">
            <a:avLst/>
          </a:prstGeom>
          <a:noFill/>
        </p:spPr>
        <p:txBody>
          <a:bodyPr wrap="square" anchor="ctr" lIns="0" rIns="0" tIns="0" bIns="0">
            <a:spAutoFit/>
          </a:bodyPr>
          <a:lstStyle/>
          <a:p>
            <a:pPr>
              <a:lnSpc>
                <a:spcPct val="95000"/>
              </a:lnSpc>
              <a:spcBef>
                <a:spcPts val="0"/>
              </a:spcBef>
            </a:pPr>
            <a:r>
              <a:rPr sz="4000" b="1">
                <a:solidFill>
                  <a:srgbClr val="2D3436"/>
                </a:solidFill>
                <a:latin typeface="Montserrat"/>
              </a:rPr>
              <a:t>Selecting Models</a:t>
            </a:r>
          </a:p>
          <a:p>
            <a:pPr>
              <a:lnSpc>
                <a:spcPct val="95000"/>
              </a:lnSpc>
              <a:spcBef>
                <a:spcPts val="1400"/>
              </a:spcBef>
            </a:pPr>
            <a:r>
              <a:rPr sz="2000" b="0">
                <a:solidFill>
                  <a:srgbClr val="595F67"/>
                </a:solidFill>
                <a:latin typeface="Poppins"/>
              </a:rPr>
              <a:t>Context size, cost and task fit</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gd-topics-box"/>
          <p:cNvSpPr/>
          <p:nvPr/>
        </p:nvSpPr>
        <p:spPr>
          <a:xfrm>
            <a:off x="6865061"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gd-topics-text"/>
          <p:cNvSpPr txBox="1"/>
          <p:nvPr/>
        </p:nvSpPr>
        <p:spPr>
          <a:xfrm>
            <a:off x="812767" y="6290000"/>
            <a:ext cx="10566466" cy="300000"/>
          </a:xfrm>
          <a:prstGeom prst="rect">
            <a:avLst/>
          </a:prstGeom>
          <a:noFill/>
        </p:spPr>
        <p:txBody>
          <a:bodyPr wrap="square" anchor="t" lIns="0" rIns="0" tIns="0" bIns="0">
            <a:spAutoFit/>
          </a:bodyPr>
          <a:lstStyle/>
          <a:p>
            <a:pPr>
              <a:lnSpc>
                <a:spcPct val="95000"/>
              </a:lnSpc>
              <a:spcBef>
                <a:spcPts val="0"/>
              </a:spcBef>
            </a:pPr>
            <a:r>
              <a:rPr sz="1100" b="0">
                <a:solidFill>
                  <a:srgbClr val="595F67"/>
                </a:solidFill>
                <a:latin typeface="Poppins"/>
              </a:rPr>
              <a:t>Agentic Software Engineering using GitHub Copilot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747911"/>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0D0D0D"/>
                </a:solidFill>
                <a:latin typeface="Source Serif 4" pitchFamily="34" charset="0"/>
                <a:ea typeface="Source Serif 4" pitchFamily="34" charset="-122"/>
                <a:cs typeface="Source Serif 4" pitchFamily="34" charset="-120"/>
              </a:rPr>
              <a:t>Model providers in Copilot</a:t>
            </a:r>
            <a:endParaRPr lang="en-US" sz="3700" dirty="0"/>
          </a:p>
        </p:txBody>
      </p:sp>
      <p:sp>
        <p:nvSpPr>
          <p:cNvPr id="3" name="Text 1"/>
          <p:cNvSpPr/>
          <p:nvPr/>
        </p:nvSpPr>
        <p:spPr>
          <a:xfrm>
            <a:off x="661475" y="1414165"/>
            <a:ext cx="10868745" cy="295275"/>
          </a:xfrm>
          <a:prstGeom prst="rect">
            <a:avLst/>
          </a:prstGeom>
          <a:noFill/>
          <a:ln/>
        </p:spPr>
        <p:txBody>
          <a:bodyPr wrap="none" lIns="0" tIns="0" rIns="0" bIns="0" rtlCol="0" anchor="t"/>
          <a:lstStyle/>
          <a:p>
            <a:pPr marL="0" indent="0" algn="l">
              <a:lnSpc>
                <a:spcPct val="104000"/>
              </a:lnSpc>
              <a:buNone/>
            </a:pPr>
            <a:r>
              <a:rPr lang="en-US" sz="1850" dirty="0">
                <a:solidFill>
                  <a:srgbClr val="0D0D0D"/>
                </a:solidFill>
                <a:latin typeface="Source Serif 4" pitchFamily="34" charset="0"/>
                <a:ea typeface="Source Serif 4" pitchFamily="34" charset="-122"/>
                <a:cs typeface="Source Serif 4" pitchFamily="34" charset="-120"/>
              </a:rPr>
              <a:t>Four provider types behind one model picker</a:t>
            </a:r>
            <a:endParaRPr lang="en-US" sz="1850" dirty="0"/>
          </a:p>
        </p:txBody>
      </p:sp>
      <p:sp>
        <p:nvSpPr>
          <p:cNvPr id="4" name="Text 2"/>
          <p:cNvSpPr/>
          <p:nvPr/>
        </p:nvSpPr>
        <p:spPr>
          <a:xfrm>
            <a:off x="661475" y="2162969"/>
            <a:ext cx="3844134" cy="2579787"/>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50" b="1" dirty="0">
                <a:solidFill>
                  <a:srgbClr val="1B365D"/>
                </a:solidFill>
                <a:latin typeface="Public Sans Bold" pitchFamily="34" charset="0"/>
                <a:ea typeface="Public Sans Bold" pitchFamily="34" charset="-122"/>
                <a:cs typeface="Public Sans Bold" pitchFamily="34" charset="-120"/>
              </a:rPr>
              <a:t>Built-in</a:t>
            </a:r>
            <a:r>
              <a:rPr lang="en-US" sz="1450" dirty="0">
                <a:solidFill>
                  <a:srgbClr val="1B365D"/>
                </a:solidFill>
                <a:latin typeface="Public Sans Light" pitchFamily="34" charset="0"/>
                <a:ea typeface="Public Sans Light" pitchFamily="34" charset="-122"/>
                <a:cs typeface="Public Sans Light" pitchFamily="34" charset="-120"/>
              </a:rPr>
              <a:t> models need only a signed-in Copilot license</a:t>
            </a:r>
            <a:endParaRPr lang="en-US" sz="1450" dirty="0"/>
          </a:p>
          <a:p>
            <a:pPr marL="294640" indent="-294640" algn="l">
              <a:lnSpc>
                <a:spcPct val="117000"/>
              </a:lnSpc>
              <a:buSzPct val="100000"/>
              <a:buChar char="•"/>
            </a:pPr>
            <a:r>
              <a:rPr lang="en-US" sz="1450" b="1" dirty="0">
                <a:solidFill>
                  <a:srgbClr val="1B365D"/>
                </a:solidFill>
                <a:latin typeface="Public Sans Bold" pitchFamily="34" charset="0"/>
                <a:ea typeface="Public Sans Bold" pitchFamily="34" charset="-122"/>
                <a:cs typeface="Public Sans Bold" pitchFamily="34" charset="-120"/>
              </a:rPr>
              <a:t>BYOK</a:t>
            </a:r>
            <a:r>
              <a:rPr lang="en-US" sz="1450" dirty="0">
                <a:solidFill>
                  <a:srgbClr val="1B365D"/>
                </a:solidFill>
                <a:latin typeface="Public Sans Light" pitchFamily="34" charset="0"/>
                <a:ea typeface="Public Sans Light" pitchFamily="34" charset="-122"/>
                <a:cs typeface="Public Sans Light" pitchFamily="34" charset="-120"/>
              </a:rPr>
              <a:t>: your own API key, for air-gapped or offline work and direct billing</a:t>
            </a:r>
            <a:endParaRPr lang="en-US" sz="1450" dirty="0"/>
          </a:p>
          <a:p>
            <a:pPr marL="294640" indent="-294640" algn="l">
              <a:lnSpc>
                <a:spcPct val="117000"/>
              </a:lnSpc>
              <a:buSzPct val="100000"/>
              <a:buChar char="•"/>
            </a:pPr>
            <a:r>
              <a:rPr lang="en-US" sz="1450" b="1" dirty="0">
                <a:solidFill>
                  <a:srgbClr val="1B365D"/>
                </a:solidFill>
                <a:latin typeface="Public Sans Bold" pitchFamily="34" charset="0"/>
                <a:ea typeface="Public Sans Bold" pitchFamily="34" charset="-122"/>
                <a:cs typeface="Public Sans Bold" pitchFamily="34" charset="-120"/>
              </a:rPr>
              <a:t>Custom Endpoint</a:t>
            </a:r>
            <a:r>
              <a:rPr lang="en-US" sz="1450" dirty="0">
                <a:solidFill>
                  <a:srgbClr val="1B365D"/>
                </a:solidFill>
                <a:latin typeface="Public Sans Light" pitchFamily="34" charset="0"/>
                <a:ea typeface="Public Sans Light" pitchFamily="34" charset="-122"/>
                <a:cs typeface="Public Sans Light" pitchFamily="34" charset="-120"/>
              </a:rPr>
              <a:t>: your URL and request shape, for models behind your own gateway</a:t>
            </a:r>
            <a:endParaRPr lang="en-US" sz="1450" dirty="0"/>
          </a:p>
          <a:p>
            <a:pPr marL="294640" indent="-294640" algn="l">
              <a:lnSpc>
                <a:spcPct val="117000"/>
              </a:lnSpc>
              <a:buSzPct val="100000"/>
              <a:buChar char="•"/>
            </a:pPr>
            <a:r>
              <a:rPr lang="en-US" sz="1450" b="1" dirty="0">
                <a:solidFill>
                  <a:srgbClr val="1B365D"/>
                </a:solidFill>
                <a:latin typeface="Public Sans Bold" pitchFamily="34" charset="0"/>
                <a:ea typeface="Public Sans Bold" pitchFamily="34" charset="-122"/>
                <a:cs typeface="Public Sans Bold" pitchFamily="34" charset="-120"/>
              </a:rPr>
              <a:t>Marketplace providers</a:t>
            </a:r>
            <a:r>
              <a:rPr lang="en-US" sz="1450" dirty="0">
                <a:solidFill>
                  <a:srgbClr val="1B365D"/>
                </a:solidFill>
                <a:latin typeface="Public Sans Light" pitchFamily="34" charset="0"/>
                <a:ea typeface="Public Sans Light" pitchFamily="34" charset="-122"/>
                <a:cs typeface="Public Sans Light" pitchFamily="34" charset="-120"/>
              </a:rPr>
              <a:t> install like any other extension</a:t>
            </a:r>
            <a:endParaRPr lang="en-US" sz="1450" dirty="0"/>
          </a:p>
        </p:txBody>
      </p:sp>
      <p:pic>
        <p:nvPicPr>
          <p:cNvPr id="5" name="Image 0" descr="preencoded.png"/>
          <p:cNvPicPr>
            <a:picLocks noChangeAspect="1"/>
          </p:cNvPicPr>
          <p:nvPr/>
        </p:nvPicPr>
        <p:blipFill>
          <a:blip r:embed="rId3"/>
          <a:stretch>
            <a:fillRect/>
          </a:stretch>
        </p:blipFill>
        <p:spPr>
          <a:xfrm>
            <a:off x="4973116" y="2205534"/>
            <a:ext cx="6563355" cy="369193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693936"/>
            <a:ext cx="6927478" cy="1122363"/>
          </a:xfrm>
          <a:prstGeom prst="rect">
            <a:avLst/>
          </a:prstGeom>
          <a:noFill/>
          <a:ln/>
        </p:spPr>
        <p:txBody>
          <a:bodyPr wrap="square" lIns="0" tIns="0" rIns="0" bIns="0" rtlCol="0" anchor="t">
            <a:noAutofit/>
          </a:bodyPr>
          <a:lstStyle/>
          <a:p>
            <a:pPr marL="0" indent="0" algn="l">
              <a:lnSpc>
                <a:spcPct val="104000"/>
              </a:lnSpc>
              <a:buNone/>
            </a:pPr>
            <a:r>
              <a:rPr lang="en-US" sz="3500" dirty="0">
                <a:solidFill>
                  <a:srgbClr val="0D0D0D"/>
                </a:solidFill>
                <a:latin typeface="Source Serif 4" pitchFamily="34" charset="0"/>
                <a:ea typeface="Source Serif 4" pitchFamily="34" charset="-122"/>
                <a:cs typeface="Source Serif 4" pitchFamily="34" charset="-120"/>
              </a:rPr>
              <a:t>The model picker</a:t>
            </a:r>
            <a:endParaRPr lang="en-US" sz="3150" dirty="0"/>
          </a:p>
        </p:txBody>
      </p:sp>
      <p:sp>
        <p:nvSpPr>
          <p:cNvPr id="3" name="Text 1"/>
          <p:cNvSpPr/>
          <p:nvPr/>
        </p:nvSpPr>
        <p:spPr>
          <a:xfrm>
            <a:off x="661475" y="1966299"/>
            <a:ext cx="6927478" cy="300000"/>
          </a:xfrm>
          <a:prstGeom prst="rect">
            <a:avLst/>
          </a:prstGeom>
          <a:noFill/>
          <a:ln/>
        </p:spPr>
        <p:txBody>
          <a:bodyPr wrap="none" lIns="0" tIns="0" rIns="0" bIns="0" rtlCol="0" anchor="t">
            <a:noAutofit/>
          </a:bodyPr>
          <a:lstStyle/>
          <a:p>
            <a:pPr marL="0" indent="0" algn="l">
              <a:lnSpc>
                <a:spcPct val="104000"/>
              </a:lnSpc>
              <a:buNone/>
            </a:pPr>
            <a:r>
              <a:rPr lang="en-US" sz="1750" dirty="0">
                <a:solidFill>
                  <a:srgbClr val="0D0D0D"/>
                </a:solidFill>
                <a:latin typeface="Source Serif 4" pitchFamily="34" charset="0"/>
                <a:ea typeface="Source Serif 4" pitchFamily="34" charset="-122"/>
                <a:cs typeface="Source Serif 4" pitchFamily="34" charset="-120"/>
              </a:rPr>
              <a:t>Model selection becomes a spending decision</a:t>
            </a:r>
            <a:endParaRPr lang="en-US" sz="1550" dirty="0"/>
          </a:p>
        </p:txBody>
      </p:sp>
      <p:sp>
        <p:nvSpPr>
          <p:cNvPr id="4" name="Text 2"/>
          <p:cNvSpPr/>
          <p:nvPr/>
        </p:nvSpPr>
        <p:spPr>
          <a:xfrm>
            <a:off x="661475" y="2416299"/>
            <a:ext cx="6927478" cy="3200000"/>
          </a:xfrm>
          <a:prstGeom prst="rect">
            <a:avLst/>
          </a:prstGeom>
          <a:noFill/>
          <a:ln/>
        </p:spPr>
        <p:txBody>
          <a:bodyPr wrap="square" lIns="0" tIns="0" rIns="0" bIns="0" rtlCol="0" anchor="t">
            <a:noAutofit/>
          </a:bodyPr>
          <a:lstStyle/>
          <a:p>
            <a:pPr marL="254000" indent="-254000" algn="l">
              <a:lnSpc>
                <a:spcPct val="108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Supported Anthropic and OpenAI models offer </a:t>
            </a:r>
            <a:r>
              <a:rPr lang="en-US" sz="1450" b="1" dirty="0">
                <a:solidFill>
                  <a:srgbClr val="1B365D"/>
                </a:solidFill>
                <a:latin typeface="Public Sans Bold" pitchFamily="34" charset="0"/>
                <a:ea typeface="Public Sans Bold" pitchFamily="34" charset="-122"/>
                <a:cs typeface="Public Sans Bold" pitchFamily="34" charset="-120"/>
              </a:rPr>
              <a:t>1M-token</a:t>
            </a:r>
            <a:r>
              <a:rPr lang="en-US" sz="1450" dirty="0">
                <a:solidFill>
                  <a:srgbClr val="1B365D"/>
                </a:solidFill>
                <a:latin typeface="Public Sans Light" pitchFamily="34" charset="0"/>
                <a:ea typeface="Public Sans Light" pitchFamily="34" charset="-122"/>
                <a:cs typeface="Public Sans Light" pitchFamily="34" charset="-120"/>
              </a:rPr>
              <a:t> context windows</a:t>
            </a:r>
            <a:endParaRPr lang="en-US" sz="1250" dirty="0"/>
          </a:p>
          <a:p>
            <a:pPr marL="254000" indent="-254000" algn="l">
              <a:lnSpc>
                <a:spcPct val="108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Pick context size and </a:t>
            </a:r>
            <a:r>
              <a:rPr lang="en-US" sz="1450" b="1" dirty="0">
                <a:solidFill>
                  <a:srgbClr val="1B365D"/>
                </a:solidFill>
                <a:latin typeface="Public Sans Bold" pitchFamily="34" charset="0"/>
                <a:ea typeface="Public Sans Bold" pitchFamily="34" charset="-122"/>
                <a:cs typeface="Public Sans Bold" pitchFamily="34" charset="-120"/>
              </a:rPr>
              <a:t>reasoning effort</a:t>
            </a:r>
            <a:r>
              <a:rPr lang="en-US" sz="1450" dirty="0">
                <a:solidFill>
                  <a:srgbClr val="1B365D"/>
                </a:solidFill>
                <a:latin typeface="Public Sans Light" pitchFamily="34" charset="0"/>
                <a:ea typeface="Public Sans Light" pitchFamily="34" charset="-122"/>
                <a:cs typeface="Public Sans Light" pitchFamily="34" charset="-120"/>
              </a:rPr>
              <a:t> for a model in the same place</a:t>
            </a:r>
            <a:endParaRPr lang="en-US" sz="1250" dirty="0"/>
          </a:p>
          <a:p>
            <a:pPr marL="254000" indent="-254000" algn="l">
              <a:lnSpc>
                <a:spcPct val="108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The picker shows each model's </a:t>
            </a:r>
            <a:r>
              <a:rPr lang="en-US" sz="1450" b="1" dirty="0">
                <a:solidFill>
                  <a:srgbClr val="1B365D"/>
                </a:solidFill>
                <a:latin typeface="Public Sans Bold" pitchFamily="34" charset="0"/>
                <a:ea typeface="Public Sans Bold" pitchFamily="34" charset="-122"/>
                <a:cs typeface="Public Sans Bold" pitchFamily="34" charset="-120"/>
              </a:rPr>
              <a:t>cost</a:t>
            </a:r>
            <a:r>
              <a:rPr lang="en-US" sz="1450" dirty="0">
                <a:solidFill>
                  <a:srgbClr val="1B365D"/>
                </a:solidFill>
                <a:latin typeface="Public Sans Light" pitchFamily="34" charset="0"/>
                <a:ea typeface="Public Sans Light" pitchFamily="34" charset="-122"/>
                <a:cs typeface="Public Sans Light" pitchFamily="34" charset="-120"/>
              </a:rPr>
              <a:t> beside its name</a:t>
            </a:r>
            <a:endParaRPr lang="en-US" sz="1250" dirty="0"/>
          </a:p>
          <a:p>
            <a:pPr marL="254000" indent="-254000" algn="l">
              <a:lnSpc>
                <a:spcPct val="108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Copilot and Anthropic models share one list: switch providers between turns</a:t>
            </a:r>
            <a:endParaRPr lang="en-US" sz="1250" dirty="0"/>
          </a:p>
        </p:txBody>
      </p:sp>
      <p:pic>
        <p:nvPicPr>
          <p:cNvPr id="5" name="Image 0" descr="preencoded.png"/>
          <p:cNvPicPr>
            <a:picLocks noChangeAspect="1"/>
          </p:cNvPicPr>
          <p:nvPr/>
        </p:nvPicPr>
        <p:blipFill>
          <a:blip r:embed="rId3"/>
          <a:stretch>
            <a:fillRect/>
          </a:stretch>
        </p:blipFill>
        <p:spPr>
          <a:xfrm>
            <a:off x="7987207" y="711002"/>
            <a:ext cx="3016869" cy="5435898"/>
          </a:xfrm>
          <a:prstGeom prst="rect">
            <a:avLst/>
          </a:prstGeom>
        </p:spPr>
      </p:pic>
    </p:spTree>
    <p:extLst>
      <p:ext uri="{BB962C8B-B14F-4D97-AF65-F5344CB8AC3E}">
        <p14:creationId xmlns:p14="http://schemas.microsoft.com/office/powerpoint/2010/main" val="16610251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747911"/>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0D0D0D"/>
                </a:solidFill>
                <a:latin typeface="Source Serif 4" pitchFamily="34" charset="0"/>
                <a:ea typeface="Source Serif 4" pitchFamily="34" charset="-122"/>
                <a:cs typeface="Source Serif 4" pitchFamily="34" charset="-120"/>
              </a:rPr>
              <a:t>BYOK and background tasks</a:t>
            </a:r>
            <a:endParaRPr lang="en-US" sz="3700" dirty="0"/>
          </a:p>
        </p:txBody>
      </p:sp>
      <p:sp>
        <p:nvSpPr>
          <p:cNvPr id="3" name="Text 1"/>
          <p:cNvSpPr/>
          <p:nvPr/>
        </p:nvSpPr>
        <p:spPr>
          <a:xfrm>
            <a:off x="661475" y="1414165"/>
            <a:ext cx="10868745" cy="295275"/>
          </a:xfrm>
          <a:prstGeom prst="rect">
            <a:avLst/>
          </a:prstGeom>
          <a:noFill/>
          <a:ln/>
        </p:spPr>
        <p:txBody>
          <a:bodyPr wrap="none" lIns="0" tIns="0" rIns="0" bIns="0" rtlCol="0" anchor="t"/>
          <a:lstStyle/>
          <a:p>
            <a:pPr marL="0" indent="0" algn="l">
              <a:lnSpc>
                <a:spcPct val="104000"/>
              </a:lnSpc>
              <a:buNone/>
            </a:pPr>
            <a:r>
              <a:rPr lang="en-US" sz="1850" dirty="0">
                <a:solidFill>
                  <a:srgbClr val="0D0D0D"/>
                </a:solidFill>
                <a:latin typeface="Source Serif 4" pitchFamily="34" charset="0"/>
                <a:ea typeface="Source Serif 4" pitchFamily="34" charset="-122"/>
                <a:cs typeface="Source Serif 4" pitchFamily="34" charset="-120"/>
              </a:rPr>
              <a:t>Background tasks that stop without an error</a:t>
            </a:r>
            <a:endParaRPr lang="en-US" sz="1850" dirty="0"/>
          </a:p>
        </p:txBody>
      </p:sp>
      <p:sp>
        <p:nvSpPr>
          <p:cNvPr id="4" name="Text 2"/>
          <p:cNvSpPr/>
          <p:nvPr/>
        </p:nvSpPr>
        <p:spPr>
          <a:xfrm>
            <a:off x="661475" y="2162969"/>
            <a:ext cx="3844134" cy="2857103"/>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BYOK runs chat and agents on your own key with </a:t>
            </a:r>
            <a:r>
              <a:rPr lang="en-US" sz="1450" b="1" dirty="0">
                <a:solidFill>
                  <a:srgbClr val="1B365D"/>
                </a:solidFill>
                <a:latin typeface="Public Sans Bold" pitchFamily="34" charset="0"/>
                <a:ea typeface="Public Sans Bold" pitchFamily="34" charset="-122"/>
                <a:cs typeface="Public Sans Bold" pitchFamily="34" charset="-120"/>
              </a:rPr>
              <a:t>no GitHub sign-in</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Inline suggestions and Next Edit Suggestions still need a signed-in license</a:t>
            </a:r>
            <a:endParaRPr lang="en-US" sz="1450" dirty="0"/>
          </a:p>
          <a:p>
            <a:pPr marL="294640" indent="-294640" algn="l">
              <a:lnSpc>
                <a:spcPct val="117000"/>
              </a:lnSpc>
              <a:buSzPct val="100000"/>
              <a:buChar char="•"/>
            </a:pPr>
            <a:r>
              <a:rPr lang="en-US" sz="1450" dirty="0">
                <a:solidFill>
                  <a:srgbClr val="1B365D"/>
                </a:solidFill>
                <a:highlight>
                  <a:srgbClr val="F2F2F2"/>
                </a:highlight>
                <a:latin typeface="Consolas" pitchFamily="34" charset="0"/>
                <a:ea typeface="Consolas" pitchFamily="34" charset="-122"/>
                <a:cs typeface="Consolas" pitchFamily="34" charset="-120"/>
              </a:rPr>
              <a:t>chat.utilityModel</a:t>
            </a:r>
            <a:r>
              <a:rPr lang="en-US" sz="1450" dirty="0">
                <a:solidFill>
                  <a:srgbClr val="1B365D"/>
                </a:solidFill>
                <a:latin typeface="Public Sans Light" pitchFamily="34" charset="0"/>
                <a:ea typeface="Public Sans Light" pitchFamily="34" charset="-122"/>
                <a:cs typeface="Public Sans Light" pitchFamily="34" charset="-120"/>
              </a:rPr>
              <a:t> drives chat titles, commit messages and intent detection</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Go BYOK without a utility model and those tasks </a:t>
            </a:r>
            <a:r>
              <a:rPr lang="en-US" sz="1450" b="1" dirty="0">
                <a:solidFill>
                  <a:srgbClr val="1B365D"/>
                </a:solidFill>
                <a:latin typeface="Public Sans Bold" pitchFamily="34" charset="0"/>
                <a:ea typeface="Public Sans Bold" pitchFamily="34" charset="-122"/>
                <a:cs typeface="Public Sans Bold" pitchFamily="34" charset="-120"/>
              </a:rPr>
              <a:t>silently stop</a:t>
            </a:r>
            <a:r>
              <a:rPr lang="en-US" sz="1450" dirty="0">
                <a:solidFill>
                  <a:srgbClr val="1B365D"/>
                </a:solidFill>
                <a:latin typeface="Public Sans Light" pitchFamily="34" charset="0"/>
                <a:ea typeface="Public Sans Light" pitchFamily="34" charset="-122"/>
                <a:cs typeface="Public Sans Light" pitchFamily="34" charset="-120"/>
              </a:rPr>
              <a:t>: set </a:t>
            </a:r>
            <a:r>
              <a:rPr lang="en-US" sz="1450" dirty="0">
                <a:solidFill>
                  <a:srgbClr val="1B365D"/>
                </a:solidFill>
                <a:highlight>
                  <a:srgbClr val="F2F2F2"/>
                </a:highlight>
                <a:latin typeface="Consolas" pitchFamily="34" charset="0"/>
                <a:ea typeface="Consolas" pitchFamily="34" charset="-122"/>
                <a:cs typeface="Consolas" pitchFamily="34" charset="-120"/>
              </a:rPr>
              <a:t>chat.byokUtilityModelDefault</a:t>
            </a:r>
            <a:endParaRPr lang="en-US" sz="1450" dirty="0"/>
          </a:p>
        </p:txBody>
      </p:sp>
      <p:pic>
        <p:nvPicPr>
          <p:cNvPr id="5" name="Image 0" descr="preencoded.png"/>
          <p:cNvPicPr>
            <a:picLocks noChangeAspect="1"/>
          </p:cNvPicPr>
          <p:nvPr/>
        </p:nvPicPr>
        <p:blipFill>
          <a:blip r:embed="rId3"/>
          <a:stretch>
            <a:fillRect/>
          </a:stretch>
        </p:blipFill>
        <p:spPr>
          <a:xfrm>
            <a:off x="4973116" y="2205534"/>
            <a:ext cx="6563355" cy="369193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526752"/>
            <a:ext cx="10868745" cy="553740"/>
          </a:xfrm>
          <a:prstGeom prst="rect">
            <a:avLst/>
          </a:prstGeom>
          <a:noFill/>
          <a:ln/>
        </p:spPr>
        <p:txBody>
          <a:bodyPr wrap="none" lIns="0" tIns="0" rIns="0" bIns="0" rtlCol="0" anchor="t"/>
          <a:lstStyle/>
          <a:p>
            <a:pPr marL="0" indent="0" algn="l">
              <a:lnSpc>
                <a:spcPct val="104000"/>
              </a:lnSpc>
              <a:buNone/>
            </a:pPr>
            <a:r>
              <a:rPr lang="en-US" sz="3450" dirty="0">
                <a:solidFill>
                  <a:srgbClr val="0D0D0D"/>
                </a:solidFill>
                <a:latin typeface="Source Serif 4" pitchFamily="34" charset="0"/>
                <a:ea typeface="Source Serif 4" pitchFamily="34" charset="-122"/>
                <a:cs typeface="Source Serif 4" pitchFamily="34" charset="-120"/>
              </a:rPr>
              <a:t>Custom Endpoint and per-model tuning</a:t>
            </a:r>
            <a:endParaRPr lang="en-US" sz="3450" dirty="0"/>
          </a:p>
        </p:txBody>
      </p:sp>
      <p:sp>
        <p:nvSpPr>
          <p:cNvPr id="3" name="Text 1"/>
          <p:cNvSpPr/>
          <p:nvPr/>
        </p:nvSpPr>
        <p:spPr>
          <a:xfrm>
            <a:off x="661475" y="1146870"/>
            <a:ext cx="10868745" cy="276920"/>
          </a:xfrm>
          <a:prstGeom prst="rect">
            <a:avLst/>
          </a:prstGeom>
          <a:noFill/>
          <a:ln/>
        </p:spPr>
        <p:txBody>
          <a:bodyPr wrap="none" lIns="0" tIns="0" rIns="0" bIns="0" rtlCol="0" anchor="t"/>
          <a:lstStyle/>
          <a:p>
            <a:pPr marL="0" indent="0" algn="l">
              <a:lnSpc>
                <a:spcPct val="104000"/>
              </a:lnSpc>
              <a:buNone/>
            </a:pPr>
            <a:r>
              <a:rPr lang="en-US" sz="1700" dirty="0">
                <a:solidFill>
                  <a:srgbClr val="0D0D0D"/>
                </a:solidFill>
                <a:latin typeface="Source Serif 4" pitchFamily="34" charset="0"/>
                <a:ea typeface="Source Serif 4" pitchFamily="34" charset="-122"/>
                <a:cs typeface="Source Serif 4" pitchFamily="34" charset="-120"/>
              </a:rPr>
              <a:t>Front your own models without a shim</a:t>
            </a:r>
            <a:endParaRPr lang="en-US" sz="1700" dirty="0"/>
          </a:p>
        </p:txBody>
      </p:sp>
      <p:sp>
        <p:nvSpPr>
          <p:cNvPr id="4" name="Text 2"/>
          <p:cNvSpPr/>
          <p:nvPr/>
        </p:nvSpPr>
        <p:spPr>
          <a:xfrm>
            <a:off x="661475" y="1822351"/>
            <a:ext cx="5218280" cy="1856581"/>
          </a:xfrm>
          <a:prstGeom prst="rect">
            <a:avLst/>
          </a:prstGeom>
          <a:noFill/>
          <a:ln/>
        </p:spPr>
        <p:txBody>
          <a:bodyPr wrap="square" lIns="0" tIns="0" rIns="0" bIns="0" rtlCol="0" anchor="t">
            <a:normAutofit/>
          </a:bodyPr>
          <a:lstStyle/>
          <a:p>
            <a:pPr marL="274320" indent="-274320" algn="l">
              <a:lnSpc>
                <a:spcPct val="113000"/>
              </a:lnSpc>
              <a:buSzPct val="100000"/>
              <a:buChar char="•"/>
            </a:pPr>
            <a:r>
              <a:rPr lang="en-US" sz="1350" b="1" dirty="0">
                <a:solidFill>
                  <a:srgbClr val="1B365D"/>
                </a:solidFill>
                <a:latin typeface="Public Sans Bold" pitchFamily="34" charset="0"/>
                <a:ea typeface="Public Sans Bold" pitchFamily="34" charset="-122"/>
                <a:cs typeface="Public Sans Bold" pitchFamily="34" charset="-120"/>
              </a:rPr>
              <a:t>Custom Endpoint</a:t>
            </a:r>
            <a:r>
              <a:rPr lang="en-US" sz="1350" dirty="0">
                <a:solidFill>
                  <a:srgbClr val="1B365D"/>
                </a:solidFill>
                <a:latin typeface="Public Sans Light" pitchFamily="34" charset="0"/>
                <a:ea typeface="Public Sans Light" pitchFamily="34" charset="-122"/>
                <a:cs typeface="Public Sans Light" pitchFamily="34" charset="-120"/>
              </a:rPr>
              <a:t> replaces the OpenAI-compatible provider</a:t>
            </a:r>
            <a:endParaRPr lang="en-US" sz="1350" dirty="0"/>
          </a:p>
          <a:p>
            <a:pPr marL="274320" indent="-274320" algn="l">
              <a:lnSpc>
                <a:spcPct val="113000"/>
              </a:lnSpc>
              <a:buSzPct val="100000"/>
              <a:buChar char="•"/>
            </a:pPr>
            <a:r>
              <a:rPr lang="en-US" sz="1350" dirty="0">
                <a:solidFill>
                  <a:srgbClr val="1B365D"/>
                </a:solidFill>
                <a:latin typeface="Public Sans Light" pitchFamily="34" charset="0"/>
                <a:ea typeface="Public Sans Light" pitchFamily="34" charset="-122"/>
                <a:cs typeface="Public Sans Light" pitchFamily="34" charset="-120"/>
              </a:rPr>
              <a:t>Three request shapes: </a:t>
            </a:r>
            <a:r>
              <a:rPr lang="en-US" sz="1350" dirty="0">
                <a:solidFill>
                  <a:srgbClr val="1B365D"/>
                </a:solidFill>
                <a:highlight>
                  <a:srgbClr val="F2F2F2"/>
                </a:highlight>
                <a:latin typeface="Consolas" pitchFamily="34" charset="0"/>
                <a:ea typeface="Consolas" pitchFamily="34" charset="-122"/>
                <a:cs typeface="Consolas" pitchFamily="34" charset="-120"/>
              </a:rPr>
              <a:t>chat-completions</a:t>
            </a:r>
            <a:r>
              <a:rPr lang="en-US" sz="1350" dirty="0">
                <a:solidFill>
                  <a:srgbClr val="1B365D"/>
                </a:solidFill>
                <a:latin typeface="Public Sans Light" pitchFamily="34" charset="0"/>
                <a:ea typeface="Public Sans Light" pitchFamily="34" charset="-122"/>
                <a:cs typeface="Public Sans Light" pitchFamily="34" charset="-120"/>
              </a:rPr>
              <a:t>, </a:t>
            </a:r>
            <a:r>
              <a:rPr lang="en-US" sz="1350" dirty="0">
                <a:solidFill>
                  <a:srgbClr val="1B365D"/>
                </a:solidFill>
                <a:highlight>
                  <a:srgbClr val="F2F2F2"/>
                </a:highlight>
                <a:latin typeface="Consolas" pitchFamily="34" charset="0"/>
                <a:ea typeface="Consolas" pitchFamily="34" charset="-122"/>
                <a:cs typeface="Consolas" pitchFamily="34" charset="-120"/>
              </a:rPr>
              <a:t>responses</a:t>
            </a:r>
            <a:r>
              <a:rPr lang="en-US" sz="1350" dirty="0">
                <a:solidFill>
                  <a:srgbClr val="1B365D"/>
                </a:solidFill>
                <a:latin typeface="Public Sans Light" pitchFamily="34" charset="0"/>
                <a:ea typeface="Public Sans Light" pitchFamily="34" charset="-122"/>
                <a:cs typeface="Public Sans Light" pitchFamily="34" charset="-120"/>
              </a:rPr>
              <a:t>, </a:t>
            </a:r>
            <a:r>
              <a:rPr lang="en-US" sz="1350" dirty="0">
                <a:solidFill>
                  <a:srgbClr val="1B365D"/>
                </a:solidFill>
                <a:highlight>
                  <a:srgbClr val="F2F2F2"/>
                </a:highlight>
                <a:latin typeface="Consolas" pitchFamily="34" charset="0"/>
                <a:ea typeface="Consolas" pitchFamily="34" charset="-122"/>
                <a:cs typeface="Consolas" pitchFamily="34" charset="-120"/>
              </a:rPr>
              <a:t>messages</a:t>
            </a:r>
            <a:endParaRPr lang="en-US" sz="1350" dirty="0"/>
          </a:p>
          <a:p>
            <a:pPr marL="274320" indent="-274320" algn="l">
              <a:lnSpc>
                <a:spcPct val="113000"/>
              </a:lnSpc>
              <a:buSzPct val="100000"/>
              <a:buChar char="•"/>
            </a:pPr>
            <a:r>
              <a:rPr lang="en-US" sz="1350" dirty="0">
                <a:solidFill>
                  <a:srgbClr val="1B365D"/>
                </a:solidFill>
                <a:latin typeface="Public Sans Light" pitchFamily="34" charset="0"/>
                <a:ea typeface="Public Sans Light" pitchFamily="34" charset="-122"/>
                <a:cs typeface="Public Sans Light" pitchFamily="34" charset="-120"/>
              </a:rPr>
              <a:t>Per-model </a:t>
            </a:r>
            <a:r>
              <a:rPr lang="en-US" sz="1350" dirty="0">
                <a:solidFill>
                  <a:srgbClr val="1B365D"/>
                </a:solidFill>
                <a:highlight>
                  <a:srgbClr val="F2F2F2"/>
                </a:highlight>
                <a:latin typeface="Consolas" pitchFamily="34" charset="0"/>
                <a:ea typeface="Consolas" pitchFamily="34" charset="-122"/>
                <a:cs typeface="Consolas" pitchFamily="34" charset="-120"/>
              </a:rPr>
              <a:t>modelOptions</a:t>
            </a:r>
            <a:r>
              <a:rPr lang="en-US" sz="1350" dirty="0">
                <a:solidFill>
                  <a:srgbClr val="1B365D"/>
                </a:solidFill>
                <a:latin typeface="Public Sans Light" pitchFamily="34" charset="0"/>
                <a:ea typeface="Public Sans Light" pitchFamily="34" charset="-122"/>
                <a:cs typeface="Public Sans Light" pitchFamily="34" charset="-120"/>
              </a:rPr>
              <a:t> set </a:t>
            </a:r>
            <a:r>
              <a:rPr lang="en-US" sz="1350" dirty="0">
                <a:solidFill>
                  <a:srgbClr val="1B365D"/>
                </a:solidFill>
                <a:highlight>
                  <a:srgbClr val="F2F2F2"/>
                </a:highlight>
                <a:latin typeface="Consolas" pitchFamily="34" charset="0"/>
                <a:ea typeface="Consolas" pitchFamily="34" charset="-122"/>
                <a:cs typeface="Consolas" pitchFamily="34" charset="-120"/>
              </a:rPr>
              <a:t>temperature</a:t>
            </a:r>
            <a:r>
              <a:rPr lang="en-US" sz="1350" dirty="0">
                <a:solidFill>
                  <a:srgbClr val="1B365D"/>
                </a:solidFill>
                <a:latin typeface="Public Sans Light" pitchFamily="34" charset="0"/>
                <a:ea typeface="Public Sans Light" pitchFamily="34" charset="-122"/>
                <a:cs typeface="Public Sans Light" pitchFamily="34" charset="-120"/>
              </a:rPr>
              <a:t> and </a:t>
            </a:r>
            <a:r>
              <a:rPr lang="en-US" sz="1350" dirty="0">
                <a:solidFill>
                  <a:srgbClr val="1B365D"/>
                </a:solidFill>
                <a:highlight>
                  <a:srgbClr val="F2F2F2"/>
                </a:highlight>
                <a:latin typeface="Consolas" pitchFamily="34" charset="0"/>
                <a:ea typeface="Consolas" pitchFamily="34" charset="-122"/>
                <a:cs typeface="Consolas" pitchFamily="34" charset="-120"/>
              </a:rPr>
              <a:t>top_p</a:t>
            </a:r>
            <a:endParaRPr lang="en-US" sz="1350" dirty="0"/>
          </a:p>
          <a:p>
            <a:pPr marL="274320" indent="-274320" algn="l">
              <a:lnSpc>
                <a:spcPct val="113000"/>
              </a:lnSpc>
              <a:buSzPct val="100000"/>
              <a:buChar char="•"/>
            </a:pPr>
            <a:r>
              <a:rPr lang="en-US" sz="1350" dirty="0">
                <a:solidFill>
                  <a:srgbClr val="1B365D"/>
                </a:solidFill>
                <a:latin typeface="Public Sans Light" pitchFamily="34" charset="0"/>
                <a:ea typeface="Public Sans Light" pitchFamily="34" charset="-122"/>
                <a:cs typeface="Public Sans Light" pitchFamily="34" charset="-120"/>
              </a:rPr>
              <a:t>The built-in Ollama provider is deprecated: install the official Ollama extension</a:t>
            </a:r>
            <a:endParaRPr lang="en-US" sz="1350" dirty="0"/>
          </a:p>
        </p:txBody>
      </p:sp>
      <p:pic>
        <p:nvPicPr>
          <p:cNvPr id="5" name="Image 0" descr="preencoded.png"/>
          <p:cNvPicPr>
            <a:picLocks noChangeAspect="1"/>
          </p:cNvPicPr>
          <p:nvPr/>
        </p:nvPicPr>
        <p:blipFill>
          <a:blip r:embed="rId3"/>
          <a:stretch>
            <a:fillRect/>
          </a:stretch>
        </p:blipFill>
        <p:spPr>
          <a:xfrm>
            <a:off x="6318290" y="1859756"/>
            <a:ext cx="5218280" cy="4284663"/>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7F5"/>
        </a:solidFill>
        <a:effectLst/>
      </p:bgPr>
    </p:bg>
    <p:spTree>
      <p:nvGrpSpPr>
        <p:cNvPr id="1" name=""/>
        <p:cNvGrpSpPr/>
        <p:nvPr/>
      </p:nvGrpSpPr>
      <p:grpSpPr/>
      <p:sp>
        <p:nvSpPr>
          <p:cNvPr id="2" name="gd-topics-text"/>
          <p:cNvSpPr txBox="1"/>
          <p:nvPr/>
        </p:nvSpPr>
        <p:spPr>
          <a:xfrm>
            <a:off x="692767" y="1150000"/>
            <a:ext cx="4900000" cy="3600000"/>
          </a:xfrm>
          <a:prstGeom prst="rect">
            <a:avLst/>
          </a:prstGeom>
          <a:noFill/>
        </p:spPr>
        <p:txBody>
          <a:bodyPr wrap="square" anchor="ctr" lIns="0" rIns="0" tIns="0" bIns="0">
            <a:spAutoFit/>
          </a:bodyPr>
          <a:lstStyle/>
          <a:p>
            <a:pPr>
              <a:lnSpc>
                <a:spcPct val="95000"/>
              </a:lnSpc>
              <a:spcBef>
                <a:spcPts val="0"/>
              </a:spcBef>
            </a:pPr>
            <a:r>
              <a:rPr sz="24000" b="1">
                <a:solidFill>
                  <a:srgbClr val="D4B483"/>
                </a:solidFill>
                <a:latin typeface="Montserrat"/>
              </a:rPr>
              <a:t>03</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gd-topics-text"/>
          <p:cNvSpPr txBox="1"/>
          <p:nvPr/>
        </p:nvSpPr>
        <p:spPr>
          <a:xfrm>
            <a:off x="6100000" y="1500000"/>
            <a:ext cx="5279233" cy="2900000"/>
          </a:xfrm>
          <a:prstGeom prst="rect">
            <a:avLst/>
          </a:prstGeom>
          <a:noFill/>
        </p:spPr>
        <p:txBody>
          <a:bodyPr wrap="square" anchor="ctr" lIns="0" rIns="0" tIns="0" bIns="0">
            <a:spAutoFit/>
          </a:bodyPr>
          <a:lstStyle/>
          <a:p>
            <a:pPr>
              <a:lnSpc>
                <a:spcPct val="95000"/>
              </a:lnSpc>
              <a:spcBef>
                <a:spcPts val="0"/>
              </a:spcBef>
            </a:pPr>
            <a:r>
              <a:rPr sz="4000" b="1">
                <a:solidFill>
                  <a:srgbClr val="2D3436"/>
                </a:solidFill>
                <a:latin typeface="Montserrat"/>
              </a:rPr>
              <a:t>Shaping the Context Window</a:t>
            </a:r>
          </a:p>
          <a:p>
            <a:pPr>
              <a:lnSpc>
                <a:spcPct val="95000"/>
              </a:lnSpc>
              <a:spcBef>
                <a:spcPts val="1400"/>
              </a:spcBef>
            </a:pPr>
            <a:r>
              <a:rPr sz="2000" b="0">
                <a:solidFill>
                  <a:srgbClr val="595F67"/>
                </a:solidFill>
                <a:latin typeface="Poppins"/>
              </a:rPr>
              <a:t>Prompt caching and deliberate context</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gd-topics-box"/>
          <p:cNvSpPr/>
          <p:nvPr/>
        </p:nvSpPr>
        <p:spPr>
          <a:xfrm>
            <a:off x="7630122"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gd-topics-text"/>
          <p:cNvSpPr txBox="1"/>
          <p:nvPr/>
        </p:nvSpPr>
        <p:spPr>
          <a:xfrm>
            <a:off x="812767" y="6290000"/>
            <a:ext cx="10566466" cy="300000"/>
          </a:xfrm>
          <a:prstGeom prst="rect">
            <a:avLst/>
          </a:prstGeom>
          <a:noFill/>
        </p:spPr>
        <p:txBody>
          <a:bodyPr wrap="square" anchor="t" lIns="0" rIns="0" tIns="0" bIns="0">
            <a:spAutoFit/>
          </a:bodyPr>
          <a:lstStyle/>
          <a:p>
            <a:pPr>
              <a:lnSpc>
                <a:spcPct val="95000"/>
              </a:lnSpc>
              <a:spcBef>
                <a:spcPts val="0"/>
              </a:spcBef>
            </a:pPr>
            <a:r>
              <a:rPr sz="1100" b="0">
                <a:solidFill>
                  <a:srgbClr val="595F67"/>
                </a:solidFill>
                <a:latin typeface="Poppins"/>
              </a:rPr>
              <a:t>Agentic Software Engineering using GitHub Copilot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693936"/>
            <a:ext cx="6388635" cy="620000"/>
          </a:xfrm>
          <a:prstGeom prst="rect">
            <a:avLst/>
          </a:prstGeom>
          <a:noFill/>
          <a:ln/>
        </p:spPr>
        <p:txBody>
          <a:bodyPr wrap="none" lIns="0" tIns="0" rIns="0" bIns="0" rtlCol="0" anchor="t">
            <a:noAutofit/>
          </a:bodyPr>
          <a:lstStyle/>
          <a:p>
            <a:pPr marL="0" indent="0" algn="l">
              <a:lnSpc>
                <a:spcPct val="104000"/>
              </a:lnSpc>
              <a:buNone/>
            </a:pPr>
            <a:r>
              <a:rPr lang="en-US" sz="3500" dirty="0">
                <a:solidFill>
                  <a:srgbClr val="0D0D0D"/>
                </a:solidFill>
                <a:latin typeface="Source Serif 4" pitchFamily="34" charset="0"/>
                <a:ea typeface="Source Serif 4" pitchFamily="34" charset="-122"/>
                <a:cs typeface="Source Serif 4" pitchFamily="34" charset="-120"/>
              </a:rPr>
              <a:t>Context window contents</a:t>
            </a:r>
            <a:endParaRPr lang="en-US" sz="2650" dirty="0"/>
          </a:p>
        </p:txBody>
      </p:sp>
      <p:sp>
        <p:nvSpPr>
          <p:cNvPr id="3" name="Text 1"/>
          <p:cNvSpPr/>
          <p:nvPr/>
        </p:nvSpPr>
        <p:spPr>
          <a:xfrm>
            <a:off x="661475" y="1463936"/>
            <a:ext cx="6388635" cy="300000"/>
          </a:xfrm>
          <a:prstGeom prst="rect">
            <a:avLst/>
          </a:prstGeom>
          <a:noFill/>
          <a:ln/>
        </p:spPr>
        <p:txBody>
          <a:bodyPr wrap="none" lIns="0" tIns="0" rIns="0" bIns="0" rtlCol="0" anchor="t">
            <a:noAutofit/>
          </a:bodyPr>
          <a:lstStyle/>
          <a:p>
            <a:pPr marL="0" indent="0" algn="l">
              <a:lnSpc>
                <a:spcPct val="104000"/>
              </a:lnSpc>
              <a:buNone/>
            </a:pPr>
            <a:r>
              <a:rPr lang="en-US" sz="1750" dirty="0">
                <a:solidFill>
                  <a:srgbClr val="0D0D0D"/>
                </a:solidFill>
                <a:latin typeface="Source Serif 4" pitchFamily="34" charset="0"/>
                <a:ea typeface="Source Serif 4" pitchFamily="34" charset="-122"/>
                <a:cs typeface="Source Serif 4" pitchFamily="34" charset="-120"/>
              </a:rPr>
              <a:t>From system instructions to conversation history</a:t>
            </a:r>
            <a:endParaRPr lang="en-US" sz="1300" dirty="0"/>
          </a:p>
        </p:txBody>
      </p:sp>
      <p:sp>
        <p:nvSpPr>
          <p:cNvPr id="4" name="Text 2"/>
          <p:cNvSpPr/>
          <p:nvPr/>
        </p:nvSpPr>
        <p:spPr>
          <a:xfrm>
            <a:off x="661475" y="1913936"/>
            <a:ext cx="6388635" cy="3200000"/>
          </a:xfrm>
          <a:prstGeom prst="rect">
            <a:avLst/>
          </a:prstGeom>
          <a:noFill/>
          <a:ln/>
        </p:spPr>
        <p:txBody>
          <a:bodyPr wrap="square" lIns="0" tIns="0" rIns="0" bIns="0" rtlCol="0" anchor="t">
            <a:noAutofit/>
          </a:bodyPr>
          <a:lstStyle/>
          <a:p>
            <a:pPr marL="213360" indent="-213360" algn="l">
              <a:lnSpc>
                <a:spcPct val="100000"/>
              </a:lnSpc>
              <a:buSzPct val="100000"/>
              <a:buChar char="•"/>
            </a:pPr>
            <a:r>
              <a:rPr lang="en-US" sz="1450" b="1" dirty="0">
                <a:solidFill>
                  <a:srgbClr val="1B365D"/>
                </a:solidFill>
                <a:latin typeface="Public Sans Bold" pitchFamily="34" charset="0"/>
                <a:ea typeface="Public Sans Bold" pitchFamily="34" charset="-122"/>
                <a:cs typeface="Public Sans Bold" pitchFamily="34" charset="-120"/>
              </a:rPr>
              <a:t>System instructions and tool definitions</a:t>
            </a:r>
            <a:r>
              <a:rPr lang="en-US" sz="1450" dirty="0">
                <a:solidFill>
                  <a:srgbClr val="1B365D"/>
                </a:solidFill>
                <a:latin typeface="Public Sans Light" pitchFamily="34" charset="0"/>
                <a:ea typeface="Public Sans Light" pitchFamily="34" charset="-122"/>
                <a:cs typeface="Public Sans Light" pitchFamily="34" charset="-120"/>
              </a:rPr>
              <a:t> form the foundation</a:t>
            </a:r>
            <a:endParaRPr lang="en-US" sz="1050" dirty="0"/>
          </a:p>
          <a:p>
            <a:pPr marL="213360" indent="-213360" algn="l">
              <a:lnSpc>
                <a:spcPct val="100000"/>
              </a:lnSpc>
              <a:buSzPct val="100000"/>
              <a:buChar char="•"/>
            </a:pPr>
            <a:r>
              <a:rPr lang="en-US" sz="1450" b="1" dirty="0">
                <a:solidFill>
                  <a:srgbClr val="1B365D"/>
                </a:solidFill>
                <a:latin typeface="Public Sans Bold" pitchFamily="34" charset="0"/>
                <a:ea typeface="Public Sans Bold" pitchFamily="34" charset="-122"/>
                <a:cs typeface="Public Sans Bold" pitchFamily="34" charset="-120"/>
              </a:rPr>
              <a:t>Custom instructions</a:t>
            </a:r>
            <a:r>
              <a:rPr lang="en-US" sz="1450" dirty="0">
                <a:solidFill>
                  <a:srgbClr val="1B365D"/>
                </a:solidFill>
                <a:latin typeface="Public Sans Light" pitchFamily="34" charset="0"/>
                <a:ea typeface="Public Sans Light" pitchFamily="34" charset="-122"/>
                <a:cs typeface="Public Sans Light" pitchFamily="34" charset="-120"/>
              </a:rPr>
              <a:t> and </a:t>
            </a:r>
            <a:r>
              <a:rPr lang="en-US" sz="1450" b="1" dirty="0">
                <a:solidFill>
                  <a:srgbClr val="1B365D"/>
                </a:solidFill>
                <a:latin typeface="Public Sans Bold" pitchFamily="34" charset="0"/>
                <a:ea typeface="Public Sans Bold" pitchFamily="34" charset="-122"/>
                <a:cs typeface="Public Sans Bold" pitchFamily="34" charset="-120"/>
              </a:rPr>
              <a:t>skills</a:t>
            </a:r>
            <a:r>
              <a:rPr lang="en-US" sz="1450" dirty="0">
                <a:solidFill>
                  <a:srgbClr val="1B365D"/>
                </a:solidFill>
                <a:latin typeface="Public Sans Light" pitchFamily="34" charset="0"/>
                <a:ea typeface="Public Sans Light" pitchFamily="34" charset="-122"/>
                <a:cs typeface="Public Sans Light" pitchFamily="34" charset="-120"/>
              </a:rPr>
              <a:t> add project rules and capabilities</a:t>
            </a:r>
            <a:endParaRPr lang="en-US" sz="1050" dirty="0"/>
          </a:p>
          <a:p>
            <a:pPr marL="213360" indent="-213360" algn="l">
              <a:lnSpc>
                <a:spcPct val="100000"/>
              </a:lnSpc>
              <a:buSzPct val="100000"/>
              <a:buChar char="•"/>
            </a:pPr>
            <a:r>
              <a:rPr lang="en-US" sz="1450" b="1" dirty="0">
                <a:solidFill>
                  <a:srgbClr val="1B365D"/>
                </a:solidFill>
                <a:latin typeface="Public Sans Bold" pitchFamily="34" charset="0"/>
                <a:ea typeface="Public Sans Bold" pitchFamily="34" charset="-122"/>
                <a:cs typeface="Public Sans Bold" pitchFamily="34" charset="-120"/>
              </a:rPr>
              <a:t>User context</a:t>
            </a:r>
            <a:r>
              <a:rPr lang="en-US" sz="1450" dirty="0">
                <a:solidFill>
                  <a:srgbClr val="1B365D"/>
                </a:solidFill>
                <a:latin typeface="Public Sans Light" pitchFamily="34" charset="0"/>
                <a:ea typeface="Public Sans Light" pitchFamily="34" charset="-122"/>
                <a:cs typeface="Public Sans Light" pitchFamily="34" charset="-120"/>
              </a:rPr>
              <a:t>: open files, selections and attached references</a:t>
            </a:r>
            <a:endParaRPr lang="en-US" sz="1050" dirty="0"/>
          </a:p>
          <a:p>
            <a:pPr marL="213360" indent="-213360" algn="l">
              <a:lnSpc>
                <a:spcPct val="100000"/>
              </a:lnSpc>
              <a:buSzPct val="100000"/>
              <a:buChar char="•"/>
            </a:pPr>
            <a:r>
              <a:rPr lang="en-US" sz="1450" b="1" dirty="0">
                <a:solidFill>
                  <a:srgbClr val="1B365D"/>
                </a:solidFill>
                <a:latin typeface="Public Sans Bold" pitchFamily="34" charset="0"/>
                <a:ea typeface="Public Sans Bold" pitchFamily="34" charset="-122"/>
                <a:cs typeface="Public Sans Bold" pitchFamily="34" charset="-120"/>
              </a:rPr>
              <a:t>Conversation history</a:t>
            </a:r>
            <a:r>
              <a:rPr lang="en-US" sz="1450" dirty="0">
                <a:solidFill>
                  <a:srgbClr val="1B365D"/>
                </a:solidFill>
                <a:latin typeface="Public Sans Light" pitchFamily="34" charset="0"/>
                <a:ea typeface="Public Sans Light" pitchFamily="34" charset="-122"/>
                <a:cs typeface="Public Sans Light" pitchFamily="34" charset="-120"/>
              </a:rPr>
              <a:t> carries previous exchanges forward</a:t>
            </a:r>
            <a:endParaRPr lang="en-US" sz="1050" dirty="0"/>
          </a:p>
        </p:txBody>
      </p:sp>
      <p:pic>
        <p:nvPicPr>
          <p:cNvPr id="5" name="Image 0" descr="preencoded.png"/>
          <p:cNvPicPr>
            <a:picLocks noChangeAspect="1"/>
          </p:cNvPicPr>
          <p:nvPr/>
        </p:nvPicPr>
        <p:blipFill>
          <a:blip r:embed="rId3"/>
          <a:stretch>
            <a:fillRect/>
          </a:stretch>
        </p:blipFill>
        <p:spPr>
          <a:xfrm>
            <a:off x="7387842" y="677863"/>
            <a:ext cx="3944640" cy="5502275"/>
          </a:xfrm>
          <a:prstGeom prst="rect">
            <a:avLst/>
          </a:prstGeom>
        </p:spPr>
      </p:pic>
    </p:spTree>
    <p:extLst>
      <p:ext uri="{BB962C8B-B14F-4D97-AF65-F5344CB8AC3E}">
        <p14:creationId xmlns:p14="http://schemas.microsoft.com/office/powerpoint/2010/main" val="39042663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723999"/>
            <a:ext cx="3504219" cy="2362597"/>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0D0D0D"/>
                </a:solidFill>
                <a:latin typeface="Source Serif 4" pitchFamily="34" charset="0"/>
                <a:ea typeface="Source Serif 4" pitchFamily="34" charset="-122"/>
                <a:cs typeface="Source Serif 4" pitchFamily="34" charset="-120"/>
              </a:rPr>
              <a:t>Prompt caching</a:t>
            </a:r>
            <a:endParaRPr lang="en-US" sz="3700" dirty="0"/>
          </a:p>
        </p:txBody>
      </p:sp>
      <p:sp>
        <p:nvSpPr>
          <p:cNvPr id="3" name="Text 1"/>
          <p:cNvSpPr/>
          <p:nvPr/>
        </p:nvSpPr>
        <p:spPr>
          <a:xfrm>
            <a:off x="661475" y="3162201"/>
            <a:ext cx="3504219" cy="590550"/>
          </a:xfrm>
          <a:prstGeom prst="rect">
            <a:avLst/>
          </a:prstGeom>
          <a:noFill/>
          <a:ln/>
        </p:spPr>
        <p:txBody>
          <a:bodyPr wrap="square" lIns="0" tIns="0" rIns="0" bIns="0" rtlCol="0" anchor="t">
            <a:normAutofit/>
          </a:bodyPr>
          <a:lstStyle/>
          <a:p>
            <a:pPr marL="0" indent="0" algn="l">
              <a:lnSpc>
                <a:spcPct val="104000"/>
              </a:lnSpc>
              <a:buNone/>
            </a:pPr>
            <a:r>
              <a:rPr lang="en-US" sz="1850" dirty="0">
                <a:solidFill>
                  <a:srgbClr val="0D0D0D"/>
                </a:solidFill>
                <a:latin typeface="Source Serif 4" pitchFamily="34" charset="0"/>
                <a:ea typeface="Source Serif 4" pitchFamily="34" charset="-122"/>
                <a:cs typeface="Source Serif 4" pitchFamily="34" charset="-120"/>
              </a:rPr>
              <a:t>Context engineering becomes a decision about ordering</a:t>
            </a:r>
            <a:endParaRPr lang="en-US" sz="1850" dirty="0"/>
          </a:p>
        </p:txBody>
      </p:sp>
      <p:sp>
        <p:nvSpPr>
          <p:cNvPr id="4" name="Text 2"/>
          <p:cNvSpPr/>
          <p:nvPr/>
        </p:nvSpPr>
        <p:spPr>
          <a:xfrm>
            <a:off x="661475" y="3941763"/>
            <a:ext cx="3504219" cy="2315170"/>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The stable prefix is processed once and </a:t>
            </a:r>
            <a:r>
              <a:rPr lang="en-US" sz="1450" b="1" dirty="0">
                <a:solidFill>
                  <a:srgbClr val="1B365D"/>
                </a:solidFill>
                <a:latin typeface="Public Sans Bold" pitchFamily="34" charset="0"/>
                <a:ea typeface="Public Sans Bold" pitchFamily="34" charset="-122"/>
                <a:cs typeface="Public Sans Bold" pitchFamily="34" charset="-120"/>
              </a:rPr>
              <a:t>reused on the next turn</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Put instructions and big reference files </a:t>
            </a:r>
            <a:r>
              <a:rPr lang="en-US" sz="1450" b="1" dirty="0">
                <a:solidFill>
                  <a:srgbClr val="1B365D"/>
                </a:solidFill>
                <a:latin typeface="Public Sans Bold" pitchFamily="34" charset="0"/>
                <a:ea typeface="Public Sans Bold" pitchFamily="34" charset="-122"/>
                <a:cs typeface="Public Sans Bold" pitchFamily="34" charset="-120"/>
              </a:rPr>
              <a:t>first</a:t>
            </a:r>
            <a:r>
              <a:rPr lang="en-US" sz="1450" dirty="0">
                <a:solidFill>
                  <a:srgbClr val="1B365D"/>
                </a:solidFill>
                <a:latin typeface="Public Sans Light" pitchFamily="34" charset="0"/>
                <a:ea typeface="Public Sans Light" pitchFamily="34" charset="-122"/>
                <a:cs typeface="Public Sans Light" pitchFamily="34" charset="-120"/>
              </a:rPr>
              <a:t>, the latest question </a:t>
            </a:r>
            <a:r>
              <a:rPr lang="en-US" sz="1450" b="1" dirty="0">
                <a:solidFill>
                  <a:srgbClr val="1B365D"/>
                </a:solidFill>
                <a:latin typeface="Public Sans Bold" pitchFamily="34" charset="0"/>
                <a:ea typeface="Public Sans Bold" pitchFamily="34" charset="-122"/>
                <a:cs typeface="Public Sans Bold" pitchFamily="34" charset="-120"/>
              </a:rPr>
              <a:t>last</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Editing or reordering early context </a:t>
            </a:r>
            <a:r>
              <a:rPr lang="en-US" sz="1450" b="1" dirty="0">
                <a:solidFill>
                  <a:srgbClr val="1B365D"/>
                </a:solidFill>
                <a:latin typeface="Public Sans Bold" pitchFamily="34" charset="0"/>
                <a:ea typeface="Public Sans Bold" pitchFamily="34" charset="-122"/>
                <a:cs typeface="Public Sans Bold" pitchFamily="34" charset="-120"/>
              </a:rPr>
              <a:t>invalidates the cache</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Cached tokens are billed at a </a:t>
            </a:r>
            <a:r>
              <a:rPr lang="en-US" sz="1450" b="1" dirty="0">
                <a:solidFill>
                  <a:srgbClr val="1B365D"/>
                </a:solidFill>
                <a:latin typeface="Public Sans Bold" pitchFamily="34" charset="0"/>
                <a:ea typeface="Public Sans Bold" pitchFamily="34" charset="-122"/>
                <a:cs typeface="Public Sans Bold" pitchFamily="34" charset="-120"/>
              </a:rPr>
              <a:t>lower rate</a:t>
            </a:r>
            <a:endParaRPr lang="en-US" sz="1450" dirty="0"/>
          </a:p>
        </p:txBody>
      </p:sp>
      <p:pic>
        <p:nvPicPr>
          <p:cNvPr id="5" name="Image 0" descr="preencoded.png"/>
          <p:cNvPicPr>
            <a:picLocks noChangeAspect="1"/>
          </p:cNvPicPr>
          <p:nvPr/>
        </p:nvPicPr>
        <p:blipFill>
          <a:blip r:embed="rId3"/>
          <a:stretch>
            <a:fillRect/>
          </a:stretch>
        </p:blipFill>
        <p:spPr>
          <a:xfrm>
            <a:off x="4633201" y="747613"/>
            <a:ext cx="6903269" cy="3883124"/>
          </a:xfrm>
          <a:prstGeom prst="rect">
            <a:avLst/>
          </a:prstGeom>
        </p:spPr>
      </p:pic>
    </p:spTree>
    <p:extLst>
      <p:ext uri="{BB962C8B-B14F-4D97-AF65-F5344CB8AC3E}">
        <p14:creationId xmlns:p14="http://schemas.microsoft.com/office/powerpoint/2010/main" val="41302167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765175"/>
            <a:ext cx="5215303" cy="1122363"/>
          </a:xfrm>
          <a:prstGeom prst="rect">
            <a:avLst/>
          </a:prstGeom>
          <a:noFill/>
          <a:ln/>
        </p:spPr>
        <p:txBody>
          <a:bodyPr wrap="square" lIns="0" tIns="0" rIns="0" bIns="0" rtlCol="0" anchor="t">
            <a:normAutofit/>
          </a:bodyPr>
          <a:lstStyle/>
          <a:p>
            <a:pPr marL="0" indent="0" algn="l">
              <a:lnSpc>
                <a:spcPct val="104000"/>
              </a:lnSpc>
              <a:buNone/>
            </a:pPr>
            <a:r>
              <a:rPr lang="en-US" sz="3500" dirty="0">
                <a:solidFill>
                  <a:srgbClr val="0D0D0D"/>
                </a:solidFill>
                <a:latin typeface="Source Serif 4" pitchFamily="34" charset="0"/>
                <a:ea typeface="Source Serif 4" pitchFamily="34" charset="-122"/>
                <a:cs typeface="Source Serif 4" pitchFamily="34" charset="-120"/>
              </a:rPr>
              <a:t>Managing context size</a:t>
            </a:r>
            <a:endParaRPr lang="en-US" sz="3500" dirty="0"/>
          </a:p>
        </p:txBody>
      </p:sp>
      <p:sp>
        <p:nvSpPr>
          <p:cNvPr id="3" name="Text 1"/>
          <p:cNvSpPr/>
          <p:nvPr/>
        </p:nvSpPr>
        <p:spPr>
          <a:xfrm>
            <a:off x="661475" y="1955701"/>
            <a:ext cx="5215303" cy="280491"/>
          </a:xfrm>
          <a:prstGeom prst="rect">
            <a:avLst/>
          </a:prstGeom>
          <a:noFill/>
          <a:ln/>
        </p:spPr>
        <p:txBody>
          <a:bodyPr wrap="none" lIns="0" tIns="0" rIns="0" bIns="0" rtlCol="0" anchor="t"/>
          <a:lstStyle/>
          <a:p>
            <a:pPr marL="0" indent="0" algn="l">
              <a:lnSpc>
                <a:spcPct val="104000"/>
              </a:lnSpc>
              <a:buNone/>
            </a:pPr>
            <a:r>
              <a:rPr lang="en-US" sz="1750" dirty="0">
                <a:solidFill>
                  <a:srgbClr val="0D0D0D"/>
                </a:solidFill>
                <a:latin typeface="Source Serif 4" pitchFamily="34" charset="0"/>
                <a:ea typeface="Source Serif 4" pitchFamily="34" charset="-122"/>
                <a:cs typeface="Source Serif 4" pitchFamily="34" charset="-120"/>
              </a:rPr>
              <a:t>Attach what the task needs, not everything</a:t>
            </a:r>
            <a:endParaRPr lang="en-US" sz="1750" dirty="0"/>
          </a:p>
        </p:txBody>
      </p:sp>
      <p:sp>
        <p:nvSpPr>
          <p:cNvPr id="4" name="Text 2"/>
          <p:cNvSpPr/>
          <p:nvPr/>
        </p:nvSpPr>
        <p:spPr>
          <a:xfrm>
            <a:off x="661475" y="2406749"/>
            <a:ext cx="5215303" cy="1900734"/>
          </a:xfrm>
          <a:prstGeom prst="rect">
            <a:avLst/>
          </a:prstGeom>
          <a:noFill/>
          <a:ln/>
        </p:spPr>
        <p:txBody>
          <a:bodyPr wrap="square" lIns="0" tIns="0" rIns="0" bIns="0" rtlCol="0" anchor="t">
            <a:normAutofit/>
          </a:bodyPr>
          <a:lstStyle/>
          <a:p>
            <a:pPr marL="284480" indent="-284480" algn="l">
              <a:lnSpc>
                <a:spcPct val="114000"/>
              </a:lnSpc>
              <a:buSzPct val="100000"/>
              <a:buChar char="•"/>
            </a:pPr>
            <a:r>
              <a:rPr lang="en-US" sz="1400" dirty="0">
                <a:solidFill>
                  <a:srgbClr val="1B365D"/>
                </a:solidFill>
                <a:latin typeface="Public Sans Light" pitchFamily="34" charset="0"/>
                <a:ea typeface="Public Sans Light" pitchFamily="34" charset="-122"/>
                <a:cs typeface="Public Sans Light" pitchFamily="34" charset="-120"/>
              </a:rPr>
              <a:t>The context window indicator shows token usage as you work</a:t>
            </a:r>
            <a:endParaRPr lang="en-US" sz="1400" dirty="0"/>
          </a:p>
          <a:p>
            <a:pPr marL="284480" indent="-284480" algn="l">
              <a:lnSpc>
                <a:spcPct val="114000"/>
              </a:lnSpc>
              <a:buSzPct val="100000"/>
              <a:buChar char="•"/>
            </a:pPr>
            <a:r>
              <a:rPr lang="en-US" sz="1400" dirty="0">
                <a:solidFill>
                  <a:srgbClr val="1B365D"/>
                </a:solidFill>
                <a:latin typeface="Public Sans Light" pitchFamily="34" charset="0"/>
                <a:ea typeface="Public Sans Light" pitchFamily="34" charset="-122"/>
                <a:cs typeface="Public Sans Light" pitchFamily="34" charset="-120"/>
              </a:rPr>
              <a:t>Attach project instructions, reference relevant files, include style samples</a:t>
            </a:r>
            <a:endParaRPr lang="en-US" sz="1400" dirty="0"/>
          </a:p>
          <a:p>
            <a:pPr marL="284480" indent="-284480" algn="l">
              <a:lnSpc>
                <a:spcPct val="114000"/>
              </a:lnSpc>
              <a:buSzPct val="100000"/>
              <a:buChar char="•"/>
            </a:pPr>
            <a:r>
              <a:rPr lang="en-US" sz="1400" dirty="0">
                <a:solidFill>
                  <a:srgbClr val="1B365D"/>
                </a:solidFill>
                <a:latin typeface="Public Sans Light" pitchFamily="34" charset="0"/>
                <a:ea typeface="Public Sans Light" pitchFamily="34" charset="-122"/>
                <a:cs typeface="Public Sans Light" pitchFamily="34" charset="-120"/>
              </a:rPr>
              <a:t>You do not need every file attached at once</a:t>
            </a:r>
            <a:endParaRPr lang="en-US" sz="1400" dirty="0"/>
          </a:p>
          <a:p>
            <a:pPr marL="284480" indent="-284480" algn="l">
              <a:lnSpc>
                <a:spcPct val="114000"/>
              </a:lnSpc>
              <a:buSzPct val="100000"/>
              <a:buChar char="•"/>
            </a:pPr>
            <a:r>
              <a:rPr lang="en-US" sz="1400" b="1" dirty="0">
                <a:solidFill>
                  <a:srgbClr val="1B365D"/>
                </a:solidFill>
                <a:latin typeface="Public Sans Bold" pitchFamily="34" charset="0"/>
                <a:ea typeface="Public Sans Bold" pitchFamily="34" charset="-122"/>
                <a:cs typeface="Public Sans Bold" pitchFamily="34" charset="-120"/>
              </a:rPr>
              <a:t>ProTip</a:t>
            </a:r>
            <a:r>
              <a:rPr lang="en-US" sz="1400" dirty="0">
                <a:solidFill>
                  <a:srgbClr val="1B365D"/>
                </a:solidFill>
                <a:latin typeface="Public Sans Light" pitchFamily="34" charset="0"/>
                <a:ea typeface="Public Sans Light" pitchFamily="34" charset="-122"/>
                <a:cs typeface="Public Sans Light" pitchFamily="34" charset="-120"/>
              </a:rPr>
              <a:t>: summarize into a </a:t>
            </a:r>
            <a:r>
              <a:rPr lang="en-US" sz="1400" dirty="0">
                <a:solidFill>
                  <a:srgbClr val="1B365D"/>
                </a:solidFill>
                <a:highlight>
                  <a:srgbClr val="F2F2F2"/>
                </a:highlight>
                <a:latin typeface="Consolas" pitchFamily="34" charset="0"/>
                <a:ea typeface="Consolas" pitchFamily="34" charset="-122"/>
                <a:cs typeface="Consolas" pitchFamily="34" charset="-120"/>
              </a:rPr>
              <a:t>feature-xxx.md</a:t>
            </a:r>
            <a:r>
              <a:rPr lang="en-US" sz="1400" dirty="0">
                <a:solidFill>
                  <a:srgbClr val="1B365D"/>
                </a:solidFill>
                <a:latin typeface="Public Sans Light" pitchFamily="34" charset="0"/>
                <a:ea typeface="Public Sans Light" pitchFamily="34" charset="-122"/>
                <a:cs typeface="Public Sans Light" pitchFamily="34" charset="-120"/>
              </a:rPr>
              <a:t> and continue in a fresh conversation</a:t>
            </a:r>
            <a:endParaRPr lang="en-US" sz="1400" dirty="0"/>
          </a:p>
        </p:txBody>
      </p:sp>
      <p:pic>
        <p:nvPicPr>
          <p:cNvPr id="5" name="Image 0" descr="preencoded.png"/>
          <p:cNvPicPr>
            <a:picLocks noChangeAspect="1"/>
          </p:cNvPicPr>
          <p:nvPr/>
        </p:nvPicPr>
        <p:blipFill>
          <a:blip r:embed="rId3"/>
          <a:stretch>
            <a:fillRect/>
          </a:stretch>
        </p:blipFill>
        <p:spPr>
          <a:xfrm>
            <a:off x="6321267" y="786507"/>
            <a:ext cx="4954464" cy="5284887"/>
          </a:xfrm>
          <a:prstGeom prst="rect">
            <a:avLst/>
          </a:prstGeom>
        </p:spPr>
      </p:pic>
    </p:spTree>
    <p:extLst>
      <p:ext uri="{BB962C8B-B14F-4D97-AF65-F5344CB8AC3E}">
        <p14:creationId xmlns:p14="http://schemas.microsoft.com/office/powerpoint/2010/main" val="3073909032"/>
      </p:ext>
    </p:extLst>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7F5"/>
        </a:solidFill>
        <a:effectLst/>
      </p:bgPr>
    </p:bg>
    <p:spTree>
      <p:nvGrpSpPr>
        <p:cNvPr id="1" name=""/>
        <p:cNvGrpSpPr/>
        <p:nvPr/>
      </p:nvGrpSpPr>
      <p:grpSpPr/>
      <p:sp>
        <p:nvSpPr>
          <p:cNvPr id="2" name="gd-topics-text"/>
          <p:cNvSpPr txBox="1"/>
          <p:nvPr/>
        </p:nvSpPr>
        <p:spPr>
          <a:xfrm>
            <a:off x="692767" y="1150000"/>
            <a:ext cx="4900000" cy="3600000"/>
          </a:xfrm>
          <a:prstGeom prst="rect">
            <a:avLst/>
          </a:prstGeom>
          <a:noFill/>
        </p:spPr>
        <p:txBody>
          <a:bodyPr wrap="square" anchor="ctr" lIns="0" rIns="0" tIns="0" bIns="0">
            <a:spAutoFit/>
          </a:bodyPr>
          <a:lstStyle/>
          <a:p>
            <a:pPr>
              <a:lnSpc>
                <a:spcPct val="95000"/>
              </a:lnSpc>
              <a:spcBef>
                <a:spcPts val="0"/>
              </a:spcBef>
            </a:pPr>
            <a:r>
              <a:rPr sz="24000" b="1">
                <a:solidFill>
                  <a:srgbClr val="D4B483"/>
                </a:solidFill>
                <a:latin typeface="Montserrat"/>
              </a:rPr>
              <a:t>04</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gd-topics-text"/>
          <p:cNvSpPr txBox="1"/>
          <p:nvPr/>
        </p:nvSpPr>
        <p:spPr>
          <a:xfrm>
            <a:off x="6100000" y="1500000"/>
            <a:ext cx="5279233" cy="2900000"/>
          </a:xfrm>
          <a:prstGeom prst="rect">
            <a:avLst/>
          </a:prstGeom>
          <a:noFill/>
        </p:spPr>
        <p:txBody>
          <a:bodyPr wrap="square" anchor="ctr" lIns="0" rIns="0" tIns="0" bIns="0">
            <a:spAutoFit/>
          </a:bodyPr>
          <a:lstStyle/>
          <a:p>
            <a:pPr>
              <a:lnSpc>
                <a:spcPct val="95000"/>
              </a:lnSpc>
              <a:spcBef>
                <a:spcPts val="0"/>
              </a:spcBef>
            </a:pPr>
            <a:r>
              <a:rPr sz="4000" b="1">
                <a:solidFill>
                  <a:srgbClr val="2D3436"/>
                </a:solidFill>
                <a:latin typeface="Montserrat"/>
              </a:rPr>
              <a:t>AI-Assisted Coding Essentials</a:t>
            </a:r>
          </a:p>
          <a:p>
            <a:pPr>
              <a:lnSpc>
                <a:spcPct val="95000"/>
              </a:lnSpc>
              <a:spcBef>
                <a:spcPts val="1400"/>
              </a:spcBef>
            </a:pPr>
            <a:r>
              <a:rPr sz="2000" b="0">
                <a:solidFill>
                  <a:srgbClr val="595F67"/>
                </a:solidFill>
                <a:latin typeface="Poppins"/>
              </a:rPr>
              <a:t>Prompting, inline suggestions and slash commands</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gd-topics-box"/>
          <p:cNvSpPr/>
          <p:nvPr/>
        </p:nvSpPr>
        <p:spPr>
          <a:xfrm>
            <a:off x="8395183"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gd-topics-text"/>
          <p:cNvSpPr txBox="1"/>
          <p:nvPr/>
        </p:nvSpPr>
        <p:spPr>
          <a:xfrm>
            <a:off x="812767" y="6290000"/>
            <a:ext cx="10566466" cy="300000"/>
          </a:xfrm>
          <a:prstGeom prst="rect">
            <a:avLst/>
          </a:prstGeom>
          <a:noFill/>
        </p:spPr>
        <p:txBody>
          <a:bodyPr wrap="square" anchor="t" lIns="0" rIns="0" tIns="0" bIns="0">
            <a:spAutoFit/>
          </a:bodyPr>
          <a:lstStyle/>
          <a:p>
            <a:pPr>
              <a:lnSpc>
                <a:spcPct val="95000"/>
              </a:lnSpc>
              <a:spcBef>
                <a:spcPts val="0"/>
              </a:spcBef>
            </a:pPr>
            <a:r>
              <a:rPr sz="1100" b="0">
                <a:solidFill>
                  <a:srgbClr val="595F67"/>
                </a:solidFill>
                <a:latin typeface="Poppins"/>
              </a:rPr>
              <a:t>Agentic Software Engineering using GitHub Copilot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1019274"/>
            <a:ext cx="3504219" cy="1771948"/>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0D0D0D"/>
                </a:solidFill>
                <a:latin typeface="Source Serif 4" pitchFamily="34" charset="0"/>
                <a:ea typeface="Source Serif 4" pitchFamily="34" charset="-122"/>
                <a:cs typeface="Source Serif 4" pitchFamily="34" charset="-120"/>
              </a:rPr>
              <a:t>Four prompting techniques</a:t>
            </a:r>
            <a:endParaRPr lang="en-US" sz="3700" dirty="0"/>
          </a:p>
        </p:txBody>
      </p:sp>
      <p:sp>
        <p:nvSpPr>
          <p:cNvPr id="3" name="Text 1"/>
          <p:cNvSpPr/>
          <p:nvPr/>
        </p:nvSpPr>
        <p:spPr>
          <a:xfrm>
            <a:off x="661475" y="2866827"/>
            <a:ext cx="3504219" cy="590550"/>
          </a:xfrm>
          <a:prstGeom prst="rect">
            <a:avLst/>
          </a:prstGeom>
          <a:noFill/>
          <a:ln/>
        </p:spPr>
        <p:txBody>
          <a:bodyPr wrap="square" lIns="0" tIns="0" rIns="0" bIns="0" rtlCol="0" anchor="t">
            <a:normAutofit/>
          </a:bodyPr>
          <a:lstStyle/>
          <a:p>
            <a:pPr marL="0" indent="0" algn="l">
              <a:lnSpc>
                <a:spcPct val="104000"/>
              </a:lnSpc>
              <a:buNone/>
            </a:pPr>
            <a:r>
              <a:rPr lang="en-US" sz="1850" dirty="0">
                <a:solidFill>
                  <a:srgbClr val="0D0D0D"/>
                </a:solidFill>
                <a:latin typeface="Source Serif 4" pitchFamily="34" charset="0"/>
                <a:ea typeface="Source Serif 4" pitchFamily="34" charset="-122"/>
                <a:cs typeface="Source Serif 4" pitchFamily="34" charset="-120"/>
              </a:rPr>
              <a:t>Clear context and intent produce the code you need</a:t>
            </a:r>
            <a:endParaRPr lang="en-US" sz="1850" dirty="0"/>
          </a:p>
        </p:txBody>
      </p:sp>
      <p:sp>
        <p:nvSpPr>
          <p:cNvPr id="4" name="Text 2"/>
          <p:cNvSpPr/>
          <p:nvPr/>
        </p:nvSpPr>
        <p:spPr>
          <a:xfrm>
            <a:off x="661475" y="3646388"/>
            <a:ext cx="3504219" cy="2315170"/>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50" b="1" dirty="0">
                <a:solidFill>
                  <a:srgbClr val="1B365D"/>
                </a:solidFill>
                <a:latin typeface="Public Sans Bold" pitchFamily="34" charset="0"/>
                <a:ea typeface="Public Sans Bold" pitchFamily="34" charset="-122"/>
                <a:cs typeface="Public Sans Bold" pitchFamily="34" charset="-120"/>
              </a:rPr>
              <a:t>Few-Shot</a:t>
            </a:r>
            <a:r>
              <a:rPr lang="en-US" sz="1450" dirty="0">
                <a:solidFill>
                  <a:srgbClr val="1B365D"/>
                </a:solidFill>
                <a:latin typeface="Public Sans Light" pitchFamily="34" charset="0"/>
                <a:ea typeface="Public Sans Light" pitchFamily="34" charset="-122"/>
                <a:cs typeface="Public Sans Light" pitchFamily="34" charset="-120"/>
              </a:rPr>
              <a:t>: show example snippets, ask for the same pattern</a:t>
            </a:r>
            <a:endParaRPr lang="en-US" sz="1450" dirty="0"/>
          </a:p>
          <a:p>
            <a:pPr marL="294640" indent="-294640" algn="l">
              <a:lnSpc>
                <a:spcPct val="117000"/>
              </a:lnSpc>
              <a:buSzPct val="100000"/>
              <a:buChar char="•"/>
            </a:pPr>
            <a:r>
              <a:rPr lang="en-US" sz="1450" b="1" dirty="0">
                <a:solidFill>
                  <a:srgbClr val="1B365D"/>
                </a:solidFill>
                <a:latin typeface="Public Sans Bold" pitchFamily="34" charset="0"/>
                <a:ea typeface="Public Sans Bold" pitchFamily="34" charset="-122"/>
                <a:cs typeface="Public Sans Bold" pitchFamily="34" charset="-120"/>
              </a:rPr>
              <a:t>Chain-of-Thought</a:t>
            </a:r>
            <a:r>
              <a:rPr lang="en-US" sz="1450" dirty="0">
                <a:solidFill>
                  <a:srgbClr val="1B365D"/>
                </a:solidFill>
                <a:latin typeface="Public Sans Light" pitchFamily="34" charset="0"/>
                <a:ea typeface="Public Sans Light" pitchFamily="34" charset="-122"/>
                <a:cs typeface="Public Sans Light" pitchFamily="34" charset="-120"/>
              </a:rPr>
              <a:t>: break the problem into sequential steps</a:t>
            </a:r>
            <a:endParaRPr lang="en-US" sz="1450" dirty="0"/>
          </a:p>
          <a:p>
            <a:pPr marL="294640" indent="-294640" algn="l">
              <a:lnSpc>
                <a:spcPct val="117000"/>
              </a:lnSpc>
              <a:buSzPct val="100000"/>
              <a:buChar char="•"/>
            </a:pPr>
            <a:r>
              <a:rPr lang="en-US" sz="1450" b="1" dirty="0">
                <a:solidFill>
                  <a:srgbClr val="1B365D"/>
                </a:solidFill>
                <a:latin typeface="Public Sans Bold" pitchFamily="34" charset="0"/>
                <a:ea typeface="Public Sans Bold" pitchFamily="34" charset="-122"/>
                <a:cs typeface="Public Sans Bold" pitchFamily="34" charset="-120"/>
              </a:rPr>
              <a:t>Context-Based</a:t>
            </a:r>
            <a:r>
              <a:rPr lang="en-US" sz="1450" dirty="0">
                <a:solidFill>
                  <a:srgbClr val="1B365D"/>
                </a:solidFill>
                <a:latin typeface="Public Sans Light" pitchFamily="34" charset="0"/>
                <a:ea typeface="Public Sans Light" pitchFamily="34" charset="-122"/>
                <a:cs typeface="Public Sans Light" pitchFamily="34" charset="-120"/>
              </a:rPr>
              <a:t>: include schemas, config files or existing code</a:t>
            </a:r>
            <a:endParaRPr lang="en-US" sz="1450" dirty="0"/>
          </a:p>
          <a:p>
            <a:pPr marL="294640" indent="-294640" algn="l">
              <a:lnSpc>
                <a:spcPct val="117000"/>
              </a:lnSpc>
              <a:buSzPct val="100000"/>
              <a:buChar char="•"/>
            </a:pPr>
            <a:r>
              <a:rPr lang="en-US" sz="1450" b="1" dirty="0">
                <a:solidFill>
                  <a:srgbClr val="1B365D"/>
                </a:solidFill>
                <a:latin typeface="Public Sans Bold" pitchFamily="34" charset="0"/>
                <a:ea typeface="Public Sans Bold" pitchFamily="34" charset="-122"/>
                <a:cs typeface="Public Sans Bold" pitchFamily="34" charset="-120"/>
              </a:rPr>
              <a:t>Instruction-Based</a:t>
            </a:r>
            <a:r>
              <a:rPr lang="en-US" sz="1450" dirty="0">
                <a:solidFill>
                  <a:srgbClr val="1B365D"/>
                </a:solidFill>
                <a:latin typeface="Public Sans Light" pitchFamily="34" charset="0"/>
                <a:ea typeface="Public Sans Light" pitchFamily="34" charset="-122"/>
                <a:cs typeface="Public Sans Light" pitchFamily="34" charset="-120"/>
              </a:rPr>
              <a:t>: structured specifications for predictable results</a:t>
            </a:r>
            <a:endParaRPr lang="en-US" sz="1450" dirty="0"/>
          </a:p>
        </p:txBody>
      </p:sp>
      <p:pic>
        <p:nvPicPr>
          <p:cNvPr id="5" name="Image 0" descr="preencoded.png"/>
          <p:cNvPicPr>
            <a:picLocks noChangeAspect="1"/>
          </p:cNvPicPr>
          <p:nvPr/>
        </p:nvPicPr>
        <p:blipFill>
          <a:blip r:embed="rId3"/>
          <a:stretch>
            <a:fillRect/>
          </a:stretch>
        </p:blipFill>
        <p:spPr>
          <a:xfrm>
            <a:off x="4633201" y="1042888"/>
            <a:ext cx="6903269" cy="3883124"/>
          </a:xfrm>
          <a:prstGeom prst="rect">
            <a:avLst/>
          </a:prstGeom>
        </p:spPr>
      </p:pic>
    </p:spTree>
    <p:extLst>
      <p:ext uri="{BB962C8B-B14F-4D97-AF65-F5344CB8AC3E}">
        <p14:creationId xmlns:p14="http://schemas.microsoft.com/office/powerpoint/2010/main" val="2777862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1003399"/>
            <a:ext cx="3504219" cy="1771948"/>
          </a:xfrm>
          <a:prstGeom prst="rect">
            <a:avLst/>
          </a:prstGeom>
          <a:noFill/>
          <a:ln/>
        </p:spPr>
        <p:txBody>
          <a:bodyPr wrap="square" lIns="0" tIns="0" rIns="0" bIns="0" rtlCol="0" anchor="t">
            <a:normAutofit/>
          </a:bodyPr>
          <a:lstStyle/>
          <a:p>
            <a:pPr marL="0" indent="0" algn="l">
              <a:lnSpc>
                <a:spcPct val="104000"/>
              </a:lnSpc>
              <a:buNone/>
            </a:pPr>
            <a:r>
              <a:rPr lang="en-US" sz="3000" dirty="0">
                <a:solidFill>
                  <a:srgbClr val="0D0D0D"/>
                </a:solidFill>
                <a:latin typeface="Source Serif 4" pitchFamily="34" charset="0"/>
                <a:ea typeface="Source Serif 4" pitchFamily="34" charset="-122"/>
                <a:cs typeface="Source Serif 4" pitchFamily="34" charset="-120"/>
              </a:rPr>
              <a:t>Slash commands and context variables</a:t>
            </a:r>
            <a:endParaRPr lang="en-US" sz="3700" dirty="0"/>
          </a:p>
        </p:txBody>
      </p:sp>
      <p:sp>
        <p:nvSpPr>
          <p:cNvPr id="3" name="Text 1"/>
          <p:cNvSpPr/>
          <p:nvPr/>
        </p:nvSpPr>
        <p:spPr>
          <a:xfrm>
            <a:off x="661475" y="2850952"/>
            <a:ext cx="3504219" cy="590550"/>
          </a:xfrm>
          <a:prstGeom prst="rect">
            <a:avLst/>
          </a:prstGeom>
          <a:noFill/>
          <a:ln/>
        </p:spPr>
        <p:txBody>
          <a:bodyPr wrap="square" lIns="0" tIns="0" rIns="0" bIns="0" rtlCol="0" anchor="t">
            <a:normAutofit/>
          </a:bodyPr>
          <a:lstStyle/>
          <a:p>
            <a:pPr marL="0" indent="0" algn="l">
              <a:lnSpc>
                <a:spcPct val="104000"/>
              </a:lnSpc>
              <a:buNone/>
            </a:pPr>
            <a:r>
              <a:rPr lang="en-US" sz="1850" dirty="0">
                <a:solidFill>
                  <a:srgbClr val="0D0D0D"/>
                </a:solidFill>
                <a:latin typeface="Source Serif 4" pitchFamily="34" charset="0"/>
                <a:ea typeface="Source Serif 4" pitchFamily="34" charset="-122"/>
                <a:cs typeface="Source Serif 4" pitchFamily="34" charset="-120"/>
              </a:rPr>
              <a:t>Route the intent, ground the request</a:t>
            </a:r>
            <a:endParaRPr lang="en-US" sz="1850" dirty="0"/>
          </a:p>
        </p:txBody>
      </p:sp>
      <p:sp>
        <p:nvSpPr>
          <p:cNvPr id="4" name="Text 2"/>
          <p:cNvSpPr/>
          <p:nvPr/>
        </p:nvSpPr>
        <p:spPr>
          <a:xfrm>
            <a:off x="661475" y="3630513"/>
            <a:ext cx="3504219" cy="2346920"/>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Slash commands route intent: </a:t>
            </a:r>
            <a:r>
              <a:rPr lang="en-US" sz="1450" dirty="0">
                <a:solidFill>
                  <a:srgbClr val="1B365D"/>
                </a:solidFill>
                <a:highlight>
                  <a:srgbClr val="F2F2F2"/>
                </a:highlight>
                <a:latin typeface="Consolas" pitchFamily="34" charset="0"/>
                <a:ea typeface="Consolas" pitchFamily="34" charset="-122"/>
                <a:cs typeface="Consolas" pitchFamily="34" charset="-120"/>
              </a:rPr>
              <a:t>/explain</a:t>
            </a:r>
            <a:r>
              <a:rPr lang="en-US" sz="1450" dirty="0">
                <a:solidFill>
                  <a:srgbClr val="1B365D"/>
                </a:solidFill>
                <a:latin typeface="Public Sans Light" pitchFamily="34" charset="0"/>
                <a:ea typeface="Public Sans Light" pitchFamily="34" charset="-122"/>
                <a:cs typeface="Public Sans Light" pitchFamily="34" charset="-120"/>
              </a:rPr>
              <a:t>, </a:t>
            </a:r>
            <a:r>
              <a:rPr lang="en-US" sz="1450" dirty="0">
                <a:solidFill>
                  <a:srgbClr val="1B365D"/>
                </a:solidFill>
                <a:highlight>
                  <a:srgbClr val="F2F2F2"/>
                </a:highlight>
                <a:latin typeface="Consolas" pitchFamily="34" charset="0"/>
                <a:ea typeface="Consolas" pitchFamily="34" charset="-122"/>
                <a:cs typeface="Consolas" pitchFamily="34" charset="-120"/>
              </a:rPr>
              <a:t>/fix</a:t>
            </a:r>
            <a:r>
              <a:rPr lang="en-US" sz="1450" dirty="0">
                <a:solidFill>
                  <a:srgbClr val="1B365D"/>
                </a:solidFill>
                <a:latin typeface="Public Sans Light" pitchFamily="34" charset="0"/>
                <a:ea typeface="Public Sans Light" pitchFamily="34" charset="-122"/>
                <a:cs typeface="Public Sans Light" pitchFamily="34" charset="-120"/>
              </a:rPr>
              <a:t>, </a:t>
            </a:r>
            <a:r>
              <a:rPr lang="en-US" sz="1450" dirty="0">
                <a:solidFill>
                  <a:srgbClr val="1B365D"/>
                </a:solidFill>
                <a:highlight>
                  <a:srgbClr val="F2F2F2"/>
                </a:highlight>
                <a:latin typeface="Consolas" pitchFamily="34" charset="0"/>
                <a:ea typeface="Consolas" pitchFamily="34" charset="-122"/>
                <a:cs typeface="Consolas" pitchFamily="34" charset="-120"/>
              </a:rPr>
              <a:t>/tests</a:t>
            </a:r>
            <a:r>
              <a:rPr lang="en-US" sz="1450" dirty="0">
                <a:solidFill>
                  <a:srgbClr val="1B365D"/>
                </a:solidFill>
                <a:latin typeface="Public Sans Light" pitchFamily="34" charset="0"/>
                <a:ea typeface="Public Sans Light" pitchFamily="34" charset="-122"/>
                <a:cs typeface="Public Sans Light" pitchFamily="34" charset="-120"/>
              </a:rPr>
              <a:t>, </a:t>
            </a:r>
            <a:r>
              <a:rPr lang="en-US" sz="1450" dirty="0">
                <a:solidFill>
                  <a:srgbClr val="1B365D"/>
                </a:solidFill>
                <a:highlight>
                  <a:srgbClr val="F2F2F2"/>
                </a:highlight>
                <a:latin typeface="Consolas" pitchFamily="34" charset="0"/>
                <a:ea typeface="Consolas" pitchFamily="34" charset="-122"/>
                <a:cs typeface="Consolas" pitchFamily="34" charset="-120"/>
              </a:rPr>
              <a:t>/optimize</a:t>
            </a:r>
            <a:endParaRPr lang="en-US" sz="1450" dirty="0"/>
          </a:p>
          <a:p>
            <a:pPr marL="294640" indent="-294640" algn="l">
              <a:lnSpc>
                <a:spcPct val="117000"/>
              </a:lnSpc>
              <a:buSzPct val="100000"/>
              <a:buChar char="•"/>
            </a:pPr>
            <a:r>
              <a:rPr lang="en-US" sz="1450" dirty="0">
                <a:solidFill>
                  <a:srgbClr val="1B365D"/>
                </a:solidFill>
                <a:highlight>
                  <a:srgbClr val="F2F2F2"/>
                </a:highlight>
                <a:latin typeface="Consolas" pitchFamily="34" charset="0"/>
                <a:ea typeface="Consolas" pitchFamily="34" charset="-122"/>
                <a:cs typeface="Consolas" pitchFamily="34" charset="-120"/>
              </a:rPr>
              <a:t>#file</a:t>
            </a:r>
            <a:r>
              <a:rPr lang="en-US" sz="1450" dirty="0">
                <a:solidFill>
                  <a:srgbClr val="1B365D"/>
                </a:solidFill>
                <a:latin typeface="Public Sans Light" pitchFamily="34" charset="0"/>
                <a:ea typeface="Public Sans Light" pitchFamily="34" charset="-122"/>
                <a:cs typeface="Public Sans Light" pitchFamily="34" charset="-120"/>
              </a:rPr>
              <a:t>, </a:t>
            </a:r>
            <a:r>
              <a:rPr lang="en-US" sz="1450" dirty="0">
                <a:solidFill>
                  <a:srgbClr val="1B365D"/>
                </a:solidFill>
                <a:highlight>
                  <a:srgbClr val="F2F2F2"/>
                </a:highlight>
                <a:latin typeface="Consolas" pitchFamily="34" charset="0"/>
                <a:ea typeface="Consolas" pitchFamily="34" charset="-122"/>
                <a:cs typeface="Consolas" pitchFamily="34" charset="-120"/>
              </a:rPr>
              <a:t>#selection</a:t>
            </a:r>
            <a:r>
              <a:rPr lang="en-US" sz="1450" dirty="0">
                <a:solidFill>
                  <a:srgbClr val="1B365D"/>
                </a:solidFill>
                <a:latin typeface="Public Sans Light" pitchFamily="34" charset="0"/>
                <a:ea typeface="Public Sans Light" pitchFamily="34" charset="-122"/>
                <a:cs typeface="Public Sans Light" pitchFamily="34" charset="-120"/>
              </a:rPr>
              <a:t> and </a:t>
            </a:r>
            <a:r>
              <a:rPr lang="en-US" sz="1450" dirty="0">
                <a:solidFill>
                  <a:srgbClr val="1B365D"/>
                </a:solidFill>
                <a:highlight>
                  <a:srgbClr val="F2F2F2"/>
                </a:highlight>
                <a:latin typeface="Consolas" pitchFamily="34" charset="0"/>
                <a:ea typeface="Consolas" pitchFamily="34" charset="-122"/>
                <a:cs typeface="Consolas" pitchFamily="34" charset="-120"/>
              </a:rPr>
              <a:t>#codebase</a:t>
            </a:r>
            <a:r>
              <a:rPr lang="en-US" sz="1450" dirty="0">
                <a:solidFill>
                  <a:srgbClr val="1B365D"/>
                </a:solidFill>
                <a:latin typeface="Public Sans Light" pitchFamily="34" charset="0"/>
                <a:ea typeface="Public Sans Light" pitchFamily="34" charset="-122"/>
                <a:cs typeface="Public Sans Light" pitchFamily="34" charset="-120"/>
              </a:rPr>
              <a:t> point at workspace code</a:t>
            </a:r>
            <a:endParaRPr lang="en-US" sz="1450" dirty="0"/>
          </a:p>
          <a:p>
            <a:pPr marL="294640" indent="-294640" algn="l">
              <a:lnSpc>
                <a:spcPct val="117000"/>
              </a:lnSpc>
              <a:buSzPct val="100000"/>
              <a:buChar char="•"/>
            </a:pPr>
            <a:r>
              <a:rPr lang="en-US" sz="1450" dirty="0">
                <a:solidFill>
                  <a:srgbClr val="1B365D"/>
                </a:solidFill>
                <a:highlight>
                  <a:srgbClr val="F2F2F2"/>
                </a:highlight>
                <a:latin typeface="Consolas" pitchFamily="34" charset="0"/>
                <a:ea typeface="Consolas" pitchFamily="34" charset="-122"/>
                <a:cs typeface="Consolas" pitchFamily="34" charset="-120"/>
              </a:rPr>
              <a:t>#terminalLastCommand</a:t>
            </a:r>
            <a:r>
              <a:rPr lang="en-US" sz="1450" dirty="0">
                <a:solidFill>
                  <a:srgbClr val="1B365D"/>
                </a:solidFill>
                <a:latin typeface="Public Sans Light" pitchFamily="34" charset="0"/>
                <a:ea typeface="Public Sans Light" pitchFamily="34" charset="-122"/>
                <a:cs typeface="Public Sans Light" pitchFamily="34" charset="-120"/>
              </a:rPr>
              <a:t> and </a:t>
            </a:r>
            <a:r>
              <a:rPr lang="en-US" sz="1450" dirty="0">
                <a:solidFill>
                  <a:srgbClr val="1B365D"/>
                </a:solidFill>
                <a:highlight>
                  <a:srgbClr val="F2F2F2"/>
                </a:highlight>
                <a:latin typeface="Consolas" pitchFamily="34" charset="0"/>
                <a:ea typeface="Consolas" pitchFamily="34" charset="-122"/>
                <a:cs typeface="Consolas" pitchFamily="34" charset="-120"/>
              </a:rPr>
              <a:t>@terminal</a:t>
            </a:r>
            <a:r>
              <a:rPr lang="en-US" sz="1450" dirty="0">
                <a:solidFill>
                  <a:srgbClr val="1B365D"/>
                </a:solidFill>
                <a:latin typeface="Public Sans Light" pitchFamily="34" charset="0"/>
                <a:ea typeface="Public Sans Light" pitchFamily="34" charset="-122"/>
                <a:cs typeface="Public Sans Light" pitchFamily="34" charset="-120"/>
              </a:rPr>
              <a:t> bring in terminal output and errors</a:t>
            </a:r>
            <a:endParaRPr lang="en-US" sz="1450" dirty="0"/>
          </a:p>
          <a:p>
            <a:pPr marL="294640" indent="-294640" algn="l">
              <a:lnSpc>
                <a:spcPct val="117000"/>
              </a:lnSpc>
              <a:buSzPct val="100000"/>
              <a:buChar char="•"/>
            </a:pPr>
            <a:r>
              <a:rPr lang="en-US" sz="1450" dirty="0">
                <a:solidFill>
                  <a:srgbClr val="1B365D"/>
                </a:solidFill>
                <a:highlight>
                  <a:srgbClr val="F2F2F2"/>
                </a:highlight>
                <a:latin typeface="Consolas" pitchFamily="34" charset="0"/>
                <a:ea typeface="Consolas" pitchFamily="34" charset="-122"/>
                <a:cs typeface="Consolas" pitchFamily="34" charset="-120"/>
              </a:rPr>
              <a:t>#fetch</a:t>
            </a:r>
            <a:r>
              <a:rPr lang="en-US" sz="1450" dirty="0">
                <a:solidFill>
                  <a:srgbClr val="1B365D"/>
                </a:solidFill>
                <a:latin typeface="Public Sans Light" pitchFamily="34" charset="0"/>
                <a:ea typeface="Public Sans Light" pitchFamily="34" charset="-122"/>
                <a:cs typeface="Public Sans Light" pitchFamily="34" charset="-120"/>
              </a:rPr>
              <a:t> pulls in content from a URL</a:t>
            </a:r>
            <a:endParaRPr lang="en-US" sz="1450" dirty="0"/>
          </a:p>
        </p:txBody>
      </p:sp>
      <p:pic>
        <p:nvPicPr>
          <p:cNvPr id="5" name="Image 0" descr="preencoded.png"/>
          <p:cNvPicPr>
            <a:picLocks noChangeAspect="1"/>
          </p:cNvPicPr>
          <p:nvPr/>
        </p:nvPicPr>
        <p:blipFill>
          <a:blip r:embed="rId3"/>
          <a:stretch>
            <a:fillRect/>
          </a:stretch>
        </p:blipFill>
        <p:spPr>
          <a:xfrm>
            <a:off x="4633201" y="1027013"/>
            <a:ext cx="6903269" cy="3883124"/>
          </a:xfrm>
          <a:prstGeom prst="rect">
            <a:avLst/>
          </a:prstGeom>
        </p:spPr>
      </p:pic>
    </p:spTree>
    <p:extLst>
      <p:ext uri="{BB962C8B-B14F-4D97-AF65-F5344CB8AC3E}">
        <p14:creationId xmlns:p14="http://schemas.microsoft.com/office/powerpoint/2010/main" val="28110569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1473200"/>
            <a:ext cx="6296860" cy="1181298"/>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0D0D0D"/>
                </a:solidFill>
                <a:latin typeface="Source Serif 4" pitchFamily="34" charset="0"/>
                <a:ea typeface="Source Serif 4" pitchFamily="34" charset="-122"/>
                <a:cs typeface="Source Serif 4" pitchFamily="34" charset="-120"/>
              </a:rPr>
              <a:t>Scaffolding an app with #fetch</a:t>
            </a:r>
            <a:endParaRPr lang="en-US" sz="3700" dirty="0"/>
          </a:p>
        </p:txBody>
      </p:sp>
      <p:sp>
        <p:nvSpPr>
          <p:cNvPr id="4" name="Text 1"/>
          <p:cNvSpPr/>
          <p:nvPr/>
        </p:nvSpPr>
        <p:spPr>
          <a:xfrm>
            <a:off x="661475" y="2730103"/>
            <a:ext cx="6296860" cy="295275"/>
          </a:xfrm>
          <a:prstGeom prst="rect">
            <a:avLst/>
          </a:prstGeom>
          <a:noFill/>
          <a:ln/>
        </p:spPr>
        <p:txBody>
          <a:bodyPr wrap="none" lIns="0" tIns="0" rIns="0" bIns="0" rtlCol="0" anchor="t"/>
          <a:lstStyle/>
          <a:p>
            <a:pPr marL="0" indent="0" algn="l">
              <a:lnSpc>
                <a:spcPct val="104000"/>
              </a:lnSpc>
              <a:buNone/>
            </a:pPr>
            <a:r>
              <a:rPr lang="en-US" sz="1850" dirty="0">
                <a:solidFill>
                  <a:srgbClr val="0D0D0D"/>
                </a:solidFill>
                <a:latin typeface="Source Serif 4" pitchFamily="34" charset="0"/>
                <a:ea typeface="Source Serif 4" pitchFamily="34" charset="-122"/>
                <a:cs typeface="Source Serif 4" pitchFamily="34" charset="-120"/>
              </a:rPr>
              <a:t>One prompt, a running Agent Framework app</a:t>
            </a:r>
            <a:endParaRPr lang="en-US" sz="1850" dirty="0"/>
          </a:p>
        </p:txBody>
      </p:sp>
      <p:sp>
        <p:nvSpPr>
          <p:cNvPr id="5" name="Text 2"/>
          <p:cNvSpPr/>
          <p:nvPr/>
        </p:nvSpPr>
        <p:spPr>
          <a:xfrm>
            <a:off x="661475" y="3308846"/>
            <a:ext cx="6296860" cy="2075954"/>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50" dirty="0">
                <a:solidFill>
                  <a:srgbClr val="1B365D"/>
                </a:solidFill>
                <a:highlight>
                  <a:srgbClr val="F2F2F2"/>
                </a:highlight>
                <a:latin typeface="Consolas" pitchFamily="34" charset="0"/>
                <a:ea typeface="Consolas" pitchFamily="34" charset="-122"/>
                <a:cs typeface="Consolas" pitchFamily="34" charset="-120"/>
              </a:rPr>
              <a:t>#fetch</a:t>
            </a:r>
            <a:r>
              <a:rPr lang="en-US" sz="1450" dirty="0">
                <a:solidFill>
                  <a:srgbClr val="1B365D"/>
                </a:solidFill>
                <a:latin typeface="Public Sans Light" pitchFamily="34" charset="0"/>
                <a:ea typeface="Public Sans Light" pitchFamily="34" charset="-122"/>
                <a:cs typeface="Public Sans Light" pitchFamily="34" charset="-120"/>
              </a:rPr>
              <a:t> retrieves the Microsoft Agent Framework quick start from Microsoft Learn</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One prompt: a Python 3.12 hello world, </a:t>
            </a:r>
            <a:r>
              <a:rPr lang="en-US" sz="1450" dirty="0">
                <a:solidFill>
                  <a:srgbClr val="1B365D"/>
                </a:solidFill>
                <a:highlight>
                  <a:srgbClr val="F2F2F2"/>
                </a:highlight>
                <a:latin typeface="Consolas" pitchFamily="34" charset="0"/>
                <a:ea typeface="Consolas" pitchFamily="34" charset="-122"/>
                <a:cs typeface="Consolas" pitchFamily="34" charset="-120"/>
              </a:rPr>
              <a:t>requirements.txt</a:t>
            </a:r>
            <a:r>
              <a:rPr lang="en-US" sz="1450" dirty="0">
                <a:solidFill>
                  <a:srgbClr val="1B365D"/>
                </a:solidFill>
                <a:latin typeface="Public Sans Light" pitchFamily="34" charset="0"/>
                <a:ea typeface="Public Sans Light" pitchFamily="34" charset="-122"/>
                <a:cs typeface="Public Sans Light" pitchFamily="34" charset="-120"/>
              </a:rPr>
              <a:t>, </a:t>
            </a:r>
            <a:r>
              <a:rPr lang="en-US" sz="1450" dirty="0">
                <a:solidFill>
                  <a:srgbClr val="1B365D"/>
                </a:solidFill>
                <a:highlight>
                  <a:srgbClr val="F2F2F2"/>
                </a:highlight>
                <a:latin typeface="Consolas" pitchFamily="34" charset="0"/>
                <a:ea typeface="Consolas" pitchFamily="34" charset="-122"/>
                <a:cs typeface="Consolas" pitchFamily="34" charset="-120"/>
              </a:rPr>
              <a:t>.venv</a:t>
            </a:r>
            <a:r>
              <a:rPr lang="en-US" sz="1450" dirty="0">
                <a:solidFill>
                  <a:srgbClr val="1B365D"/>
                </a:solidFill>
                <a:latin typeface="Public Sans Light" pitchFamily="34" charset="0"/>
                <a:ea typeface="Public Sans Light" pitchFamily="34" charset="-122"/>
                <a:cs typeface="Public Sans Light" pitchFamily="34" charset="-120"/>
              </a:rPr>
              <a:t>, </a:t>
            </a:r>
            <a:r>
              <a:rPr lang="en-US" sz="1450" dirty="0">
                <a:solidFill>
                  <a:srgbClr val="1B365D"/>
                </a:solidFill>
                <a:highlight>
                  <a:srgbClr val="F2F2F2"/>
                </a:highlight>
                <a:latin typeface="Consolas" pitchFamily="34" charset="0"/>
                <a:ea typeface="Consolas" pitchFamily="34" charset="-122"/>
                <a:cs typeface="Consolas" pitchFamily="34" charset="-120"/>
              </a:rPr>
              <a:t>.gitignore</a:t>
            </a:r>
            <a:r>
              <a:rPr lang="en-US" sz="1450" dirty="0">
                <a:solidFill>
                  <a:srgbClr val="1B365D"/>
                </a:solidFill>
                <a:latin typeface="Public Sans Light" pitchFamily="34" charset="0"/>
                <a:ea typeface="Public Sans Light" pitchFamily="34" charset="-122"/>
                <a:cs typeface="Public Sans Light" pitchFamily="34" charset="-120"/>
              </a:rPr>
              <a:t> and </a:t>
            </a:r>
            <a:r>
              <a:rPr lang="en-US" sz="1450" dirty="0">
                <a:solidFill>
                  <a:srgbClr val="1B365D"/>
                </a:solidFill>
                <a:highlight>
                  <a:srgbClr val="F2F2F2"/>
                </a:highlight>
                <a:latin typeface="Consolas" pitchFamily="34" charset="0"/>
                <a:ea typeface="Consolas" pitchFamily="34" charset="-122"/>
                <a:cs typeface="Consolas" pitchFamily="34" charset="-120"/>
              </a:rPr>
              <a:t>.env</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"Implement the sample and run it until all errors are fixed"</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A beginner readme explains where the </a:t>
            </a:r>
            <a:r>
              <a:rPr lang="en-US" sz="1450" dirty="0">
                <a:solidFill>
                  <a:srgbClr val="1B365D"/>
                </a:solidFill>
                <a:highlight>
                  <a:srgbClr val="F2F2F2"/>
                </a:highlight>
                <a:latin typeface="Consolas" pitchFamily="34" charset="0"/>
                <a:ea typeface="Consolas" pitchFamily="34" charset="-122"/>
                <a:cs typeface="Consolas" pitchFamily="34" charset="-120"/>
              </a:rPr>
              <a:t>.env</a:t>
            </a:r>
            <a:r>
              <a:rPr lang="en-US" sz="1450" dirty="0">
                <a:solidFill>
                  <a:srgbClr val="1B365D"/>
                </a:solidFill>
                <a:latin typeface="Public Sans Light" pitchFamily="34" charset="0"/>
                <a:ea typeface="Public Sans Light" pitchFamily="34" charset="-122"/>
                <a:cs typeface="Public Sans Light" pitchFamily="34" charset="-120"/>
              </a:rPr>
              <a:t> values come from in Microsoft Foundry</a:t>
            </a:r>
            <a:endParaRPr lang="en-US" sz="1450" dirty="0"/>
          </a:p>
        </p:txBody>
      </p:sp>
    </p:spTree>
    <p:extLst>
      <p:ext uri="{BB962C8B-B14F-4D97-AF65-F5344CB8AC3E}">
        <p14:creationId xmlns:p14="http://schemas.microsoft.com/office/powerpoint/2010/main" val="3066209777"/>
      </p:ext>
    </p:extLst>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7F5"/>
        </a:solidFill>
        <a:effectLst/>
      </p:bgPr>
    </p:bg>
    <p:spTree>
      <p:nvGrpSpPr>
        <p:cNvPr id="1" name=""/>
        <p:cNvGrpSpPr/>
        <p:nvPr/>
      </p:nvGrpSpPr>
      <p:grpSpPr/>
      <p:sp>
        <p:nvSpPr>
          <p:cNvPr id="2" name="gd-topics-text"/>
          <p:cNvSpPr txBox="1"/>
          <p:nvPr/>
        </p:nvSpPr>
        <p:spPr>
          <a:xfrm>
            <a:off x="692767" y="1150000"/>
            <a:ext cx="4900000" cy="3600000"/>
          </a:xfrm>
          <a:prstGeom prst="rect">
            <a:avLst/>
          </a:prstGeom>
          <a:noFill/>
        </p:spPr>
        <p:txBody>
          <a:bodyPr wrap="square" anchor="ctr" lIns="0" rIns="0" tIns="0" bIns="0">
            <a:spAutoFit/>
          </a:bodyPr>
          <a:lstStyle/>
          <a:p>
            <a:pPr>
              <a:lnSpc>
                <a:spcPct val="95000"/>
              </a:lnSpc>
              <a:spcBef>
                <a:spcPts val="0"/>
              </a:spcBef>
            </a:pPr>
            <a:r>
              <a:rPr sz="24000" b="1">
                <a:solidFill>
                  <a:srgbClr val="D4B483"/>
                </a:solidFill>
                <a:latin typeface="Montserrat"/>
              </a:rPr>
              <a:t>05</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gd-topics-text"/>
          <p:cNvSpPr txBox="1"/>
          <p:nvPr/>
        </p:nvSpPr>
        <p:spPr>
          <a:xfrm>
            <a:off x="6100000" y="1500000"/>
            <a:ext cx="5279233" cy="2900000"/>
          </a:xfrm>
          <a:prstGeom prst="rect">
            <a:avLst/>
          </a:prstGeom>
          <a:noFill/>
        </p:spPr>
        <p:txBody>
          <a:bodyPr wrap="square" anchor="ctr" lIns="0" rIns="0" tIns="0" bIns="0">
            <a:spAutoFit/>
          </a:bodyPr>
          <a:lstStyle/>
          <a:p>
            <a:pPr>
              <a:lnSpc>
                <a:spcPct val="95000"/>
              </a:lnSpc>
              <a:spcBef>
                <a:spcPts val="0"/>
              </a:spcBef>
            </a:pPr>
            <a:r>
              <a:rPr sz="4000" b="1">
                <a:solidFill>
                  <a:srgbClr val="2D3436"/>
                </a:solidFill>
                <a:latin typeface="Montserrat"/>
              </a:rPr>
              <a:t>Agent Mode Basics</a:t>
            </a:r>
          </a:p>
          <a:p>
            <a:pPr>
              <a:lnSpc>
                <a:spcPct val="95000"/>
              </a:lnSpc>
              <a:spcBef>
                <a:spcPts val="1400"/>
              </a:spcBef>
            </a:pPr>
            <a:r>
              <a:rPr sz="2000" b="0">
                <a:solidFill>
                  <a:srgbClr val="595F67"/>
                </a:solidFill>
                <a:latin typeface="Poppins"/>
              </a:rPr>
              <a:t>Local agents for multi-step work</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gd-topics-box"/>
          <p:cNvSpPr/>
          <p:nvPr/>
        </p:nvSpPr>
        <p:spPr>
          <a:xfrm>
            <a:off x="9160244"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gd-topics-text"/>
          <p:cNvSpPr txBox="1"/>
          <p:nvPr/>
        </p:nvSpPr>
        <p:spPr>
          <a:xfrm>
            <a:off x="812767" y="6290000"/>
            <a:ext cx="10566466" cy="300000"/>
          </a:xfrm>
          <a:prstGeom prst="rect">
            <a:avLst/>
          </a:prstGeom>
          <a:noFill/>
        </p:spPr>
        <p:txBody>
          <a:bodyPr wrap="square" anchor="t" lIns="0" rIns="0" tIns="0" bIns="0">
            <a:spAutoFit/>
          </a:bodyPr>
          <a:lstStyle/>
          <a:p>
            <a:pPr>
              <a:lnSpc>
                <a:spcPct val="95000"/>
              </a:lnSpc>
              <a:spcBef>
                <a:spcPts val="0"/>
              </a:spcBef>
            </a:pPr>
            <a:r>
              <a:rPr sz="1100" b="0">
                <a:solidFill>
                  <a:srgbClr val="595F67"/>
                </a:solidFill>
                <a:latin typeface="Poppins"/>
              </a:rPr>
              <a:t>Agentic Software Engineering using GitHub Copilot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917674"/>
            <a:ext cx="3504219" cy="1181298"/>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0D0D0D"/>
                </a:solidFill>
                <a:latin typeface="Source Serif 4" pitchFamily="34" charset="0"/>
                <a:ea typeface="Source Serif 4" pitchFamily="34" charset="-122"/>
                <a:cs typeface="Source Serif 4" pitchFamily="34" charset="-120"/>
              </a:rPr>
              <a:t>Local agents in Agent Mode</a:t>
            </a:r>
            <a:endParaRPr lang="en-US" sz="3700" dirty="0"/>
          </a:p>
        </p:txBody>
      </p:sp>
      <p:sp>
        <p:nvSpPr>
          <p:cNvPr id="3" name="Text 1"/>
          <p:cNvSpPr/>
          <p:nvPr/>
        </p:nvSpPr>
        <p:spPr>
          <a:xfrm>
            <a:off x="661475" y="2174577"/>
            <a:ext cx="3504219" cy="590550"/>
          </a:xfrm>
          <a:prstGeom prst="rect">
            <a:avLst/>
          </a:prstGeom>
          <a:noFill/>
          <a:ln/>
        </p:spPr>
        <p:txBody>
          <a:bodyPr wrap="square" lIns="0" tIns="0" rIns="0" bIns="0" rtlCol="0" anchor="t">
            <a:normAutofit/>
          </a:bodyPr>
          <a:lstStyle/>
          <a:p>
            <a:pPr marL="0" indent="0" algn="l">
              <a:lnSpc>
                <a:spcPct val="104000"/>
              </a:lnSpc>
              <a:buNone/>
            </a:pPr>
            <a:r>
              <a:rPr lang="en-US" sz="1850" dirty="0">
                <a:solidFill>
                  <a:srgbClr val="0D0D0D"/>
                </a:solidFill>
                <a:latin typeface="Source Serif 4" pitchFamily="34" charset="0"/>
                <a:ea typeface="Source Serif 4" pitchFamily="34" charset="-122"/>
                <a:cs typeface="Source Serif 4" pitchFamily="34" charset="-120"/>
              </a:rPr>
              <a:t>Real-time, multi-step work inside your editor</a:t>
            </a:r>
            <a:endParaRPr lang="en-US" sz="1850" dirty="0"/>
          </a:p>
        </p:txBody>
      </p:sp>
      <p:sp>
        <p:nvSpPr>
          <p:cNvPr id="4" name="Text 2"/>
          <p:cNvSpPr/>
          <p:nvPr/>
        </p:nvSpPr>
        <p:spPr>
          <a:xfrm>
            <a:off x="661475" y="2954139"/>
            <a:ext cx="3504219" cy="3109020"/>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Runs in your VS Code session: workspace files, terminal, editor state, npm scripts</a:t>
            </a:r>
            <a:endParaRPr lang="en-US" sz="1450" dirty="0"/>
          </a:p>
          <a:p>
            <a:pPr marL="294640" indent="-294640" algn="l">
              <a:lnSpc>
                <a:spcPct val="117000"/>
              </a:lnSpc>
              <a:buSzPct val="100000"/>
              <a:buChar char="•"/>
            </a:pPr>
            <a:r>
              <a:rPr lang="en-US" sz="1450" b="1" dirty="0">
                <a:solidFill>
                  <a:srgbClr val="1B365D"/>
                </a:solidFill>
                <a:latin typeface="Public Sans Bold" pitchFamily="34" charset="0"/>
                <a:ea typeface="Public Sans Bold" pitchFamily="34" charset="-122"/>
                <a:cs typeface="Public Sans Bold" pitchFamily="34" charset="-120"/>
              </a:rPr>
              <a:t>Synchronous and blocking</a:t>
            </a:r>
            <a:r>
              <a:rPr lang="en-US" sz="1450" dirty="0">
                <a:solidFill>
                  <a:srgbClr val="1B365D"/>
                </a:solidFill>
                <a:latin typeface="Public Sans Light" pitchFamily="34" charset="0"/>
                <a:ea typeface="Public Sans Light" pitchFamily="34" charset="-122"/>
                <a:cs typeface="Public Sans Light" pitchFamily="34" charset="-120"/>
              </a:rPr>
              <a:t>: one sequential task at a time</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Full local auth: Azure CLI credentials, Git tokens, SSH keys, environment variables</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Steering and queueing mid-run follow in module 3, Local Agents</a:t>
            </a:r>
            <a:endParaRPr lang="en-US" sz="1450" dirty="0"/>
          </a:p>
        </p:txBody>
      </p:sp>
      <p:pic>
        <p:nvPicPr>
          <p:cNvPr id="5" name="Image 0" descr="preencoded.png"/>
          <p:cNvPicPr>
            <a:picLocks noChangeAspect="1"/>
          </p:cNvPicPr>
          <p:nvPr/>
        </p:nvPicPr>
        <p:blipFill>
          <a:blip r:embed="rId3"/>
          <a:stretch>
            <a:fillRect/>
          </a:stretch>
        </p:blipFill>
        <p:spPr>
          <a:xfrm>
            <a:off x="4633201" y="941288"/>
            <a:ext cx="3544005" cy="2031901"/>
          </a:xfrm>
          <a:prstGeom prst="rect">
            <a:avLst/>
          </a:prstGeom>
        </p:spPr>
      </p:pic>
    </p:spTree>
    <p:extLst>
      <p:ext uri="{BB962C8B-B14F-4D97-AF65-F5344CB8AC3E}">
        <p14:creationId xmlns:p14="http://schemas.microsoft.com/office/powerpoint/2010/main" val="18603211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1094284"/>
            <a:ext cx="3519201" cy="1122363"/>
          </a:xfrm>
          <a:prstGeom prst="rect">
            <a:avLst/>
          </a:prstGeom>
          <a:noFill/>
          <a:ln/>
        </p:spPr>
        <p:txBody>
          <a:bodyPr wrap="square" lIns="0" tIns="0" rIns="0" bIns="0" rtlCol="0" anchor="t">
            <a:normAutofit/>
          </a:bodyPr>
          <a:lstStyle/>
          <a:p>
            <a:pPr marL="0" indent="0" algn="l">
              <a:lnSpc>
                <a:spcPct val="104000"/>
              </a:lnSpc>
              <a:buNone/>
            </a:pPr>
            <a:r>
              <a:rPr lang="en-US" sz="3500" dirty="0">
                <a:solidFill>
                  <a:srgbClr val="0D0D0D"/>
                </a:solidFill>
                <a:latin typeface="Source Serif 4" pitchFamily="34" charset="0"/>
                <a:ea typeface="Source Serif 4" pitchFamily="34" charset="-122"/>
                <a:cs typeface="Source Serif 4" pitchFamily="34" charset="-120"/>
              </a:rPr>
              <a:t>Agent Mode demo tasks</a:t>
            </a:r>
            <a:endParaRPr lang="en-US" sz="3500" dirty="0"/>
          </a:p>
        </p:txBody>
      </p:sp>
      <p:sp>
        <p:nvSpPr>
          <p:cNvPr id="3" name="Text 1"/>
          <p:cNvSpPr/>
          <p:nvPr/>
        </p:nvSpPr>
        <p:spPr>
          <a:xfrm>
            <a:off x="661475" y="2284809"/>
            <a:ext cx="3519201" cy="280491"/>
          </a:xfrm>
          <a:prstGeom prst="rect">
            <a:avLst/>
          </a:prstGeom>
          <a:noFill/>
          <a:ln/>
        </p:spPr>
        <p:txBody>
          <a:bodyPr wrap="none" lIns="0" tIns="0" rIns="0" bIns="0" rtlCol="0" anchor="t"/>
          <a:lstStyle/>
          <a:p>
            <a:pPr marL="0" indent="0" algn="l">
              <a:lnSpc>
                <a:spcPct val="104000"/>
              </a:lnSpc>
              <a:buNone/>
            </a:pPr>
            <a:r>
              <a:rPr lang="en-US" sz="1750" dirty="0">
                <a:solidFill>
                  <a:srgbClr val="0D0D0D"/>
                </a:solidFill>
                <a:latin typeface="Source Serif 4" pitchFamily="34" charset="0"/>
                <a:ea typeface="Source Serif 4" pitchFamily="34" charset="-122"/>
                <a:cs typeface="Source Serif 4" pitchFamily="34" charset="-120"/>
              </a:rPr>
              <a:t>Scaffold, fix, update</a:t>
            </a:r>
            <a:endParaRPr lang="en-US" sz="1750" dirty="0"/>
          </a:p>
        </p:txBody>
      </p:sp>
      <p:sp>
        <p:nvSpPr>
          <p:cNvPr id="4" name="Text 2"/>
          <p:cNvSpPr/>
          <p:nvPr/>
        </p:nvSpPr>
        <p:spPr>
          <a:xfrm>
            <a:off x="661475" y="2735858"/>
            <a:ext cx="3519201" cy="3138785"/>
          </a:xfrm>
          <a:prstGeom prst="rect">
            <a:avLst/>
          </a:prstGeom>
          <a:noFill/>
          <a:ln/>
        </p:spPr>
        <p:txBody>
          <a:bodyPr wrap="square" lIns="0" tIns="0" rIns="0" bIns="0" rtlCol="0" anchor="t">
            <a:normAutofit/>
          </a:bodyPr>
          <a:lstStyle/>
          <a:p>
            <a:pPr marL="284480" indent="-284480" algn="l">
              <a:lnSpc>
                <a:spcPct val="114000"/>
              </a:lnSpc>
              <a:buSzPct val="100000"/>
              <a:buChar char="•"/>
            </a:pPr>
            <a:r>
              <a:rPr lang="en-US" sz="1400" b="1" dirty="0">
                <a:solidFill>
                  <a:srgbClr val="1B365D"/>
                </a:solidFill>
                <a:latin typeface="Public Sans Bold" pitchFamily="34" charset="0"/>
                <a:ea typeface="Public Sans Bold" pitchFamily="34" charset="-122"/>
                <a:cs typeface="Public Sans Bold" pitchFamily="34" charset="-120"/>
              </a:rPr>
              <a:t>Scaffold</a:t>
            </a:r>
            <a:r>
              <a:rPr lang="en-US" sz="1400" dirty="0">
                <a:solidFill>
                  <a:srgbClr val="1B365D"/>
                </a:solidFill>
                <a:latin typeface="Public Sans Light" pitchFamily="34" charset="0"/>
                <a:ea typeface="Public Sans Light" pitchFamily="34" charset="-122"/>
                <a:cs typeface="Public Sans Light" pitchFamily="34" charset="-120"/>
              </a:rPr>
              <a:t>: </a:t>
            </a:r>
            <a:r>
              <a:rPr lang="en-US" sz="1400" dirty="0">
                <a:solidFill>
                  <a:srgbClr val="1B365D"/>
                </a:solidFill>
                <a:highlight>
                  <a:srgbClr val="F2F2F2"/>
                </a:highlight>
                <a:latin typeface="Consolas" pitchFamily="34" charset="0"/>
                <a:ea typeface="Consolas" pitchFamily="34" charset="-122"/>
                <a:cs typeface="Consolas" pitchFamily="34" charset="-120"/>
              </a:rPr>
              <a:t>dotnet new webapi</a:t>
            </a:r>
            <a:r>
              <a:rPr lang="en-US" sz="1400" dirty="0">
                <a:solidFill>
                  <a:srgbClr val="1B365D"/>
                </a:solidFill>
                <a:latin typeface="Public Sans Light" pitchFamily="34" charset="0"/>
                <a:ea typeface="Public Sans Light" pitchFamily="34" charset="-122"/>
                <a:cs typeface="Public Sans Light" pitchFamily="34" charset="-120"/>
              </a:rPr>
              <a:t>, an InstructionsController and Scalar UI, checked in the browser</a:t>
            </a:r>
            <a:endParaRPr lang="en-US" sz="1400" dirty="0"/>
          </a:p>
          <a:p>
            <a:pPr marL="284480" indent="-284480" algn="l">
              <a:lnSpc>
                <a:spcPct val="114000"/>
              </a:lnSpc>
              <a:buSzPct val="100000"/>
              <a:buChar char="•"/>
            </a:pPr>
            <a:r>
              <a:rPr lang="en-US" sz="1400" b="1" dirty="0">
                <a:solidFill>
                  <a:srgbClr val="1B365D"/>
                </a:solidFill>
                <a:latin typeface="Public Sans Bold" pitchFamily="34" charset="0"/>
                <a:ea typeface="Public Sans Bold" pitchFamily="34" charset="-122"/>
                <a:cs typeface="Public Sans Bold" pitchFamily="34" charset="-120"/>
              </a:rPr>
              <a:t>Fix</a:t>
            </a:r>
            <a:r>
              <a:rPr lang="en-US" sz="1400" dirty="0">
                <a:solidFill>
                  <a:srgbClr val="1B365D"/>
                </a:solidFill>
                <a:latin typeface="Public Sans Light" pitchFamily="34" charset="0"/>
                <a:ea typeface="Public Sans Light" pitchFamily="34" charset="-122"/>
                <a:cs typeface="Public Sans Light" pitchFamily="34" charset="-120"/>
              </a:rPr>
              <a:t>: from </a:t>
            </a:r>
            <a:r>
              <a:rPr lang="en-US" sz="1400" dirty="0">
                <a:solidFill>
                  <a:srgbClr val="1B365D"/>
                </a:solidFill>
                <a:highlight>
                  <a:srgbClr val="F2F2F2"/>
                </a:highlight>
                <a:latin typeface="Consolas" pitchFamily="34" charset="0"/>
                <a:ea typeface="Consolas" pitchFamily="34" charset="-122"/>
                <a:cs typeface="Consolas" pitchFamily="34" charset="-120"/>
              </a:rPr>
              <a:t>#terminalLastCommand</a:t>
            </a:r>
            <a:r>
              <a:rPr lang="en-US" sz="1400" dirty="0">
                <a:solidFill>
                  <a:srgbClr val="1B365D"/>
                </a:solidFill>
                <a:latin typeface="Public Sans Light" pitchFamily="34" charset="0"/>
                <a:ea typeface="Public Sans Light" pitchFamily="34" charset="-122"/>
                <a:cs typeface="Public Sans Light" pitchFamily="34" charset="-120"/>
              </a:rPr>
              <a:t> to keyless auth with DefaultAzureCredential</a:t>
            </a:r>
            <a:endParaRPr lang="en-US" sz="1400" dirty="0"/>
          </a:p>
          <a:p>
            <a:pPr marL="284480" indent="-284480" algn="l">
              <a:lnSpc>
                <a:spcPct val="114000"/>
              </a:lnSpc>
              <a:buSzPct val="100000"/>
              <a:buChar char="•"/>
            </a:pPr>
            <a:r>
              <a:rPr lang="en-US" sz="1400" b="1" dirty="0">
                <a:solidFill>
                  <a:srgbClr val="1B365D"/>
                </a:solidFill>
                <a:latin typeface="Public Sans Bold" pitchFamily="34" charset="0"/>
                <a:ea typeface="Public Sans Bold" pitchFamily="34" charset="-122"/>
                <a:cs typeface="Public Sans Bold" pitchFamily="34" charset="-120"/>
              </a:rPr>
              <a:t>Update</a:t>
            </a:r>
            <a:r>
              <a:rPr lang="en-US" sz="1400" dirty="0">
                <a:solidFill>
                  <a:srgbClr val="1B365D"/>
                </a:solidFill>
                <a:latin typeface="Public Sans Light" pitchFamily="34" charset="0"/>
                <a:ea typeface="Public Sans Light" pitchFamily="34" charset="-122"/>
                <a:cs typeface="Public Sans Light" pitchFamily="34" charset="-120"/>
              </a:rPr>
              <a:t>: pin the agentfw_ agents to the latest Agent Framework, write </a:t>
            </a:r>
            <a:r>
              <a:rPr lang="en-US" sz="1400" dirty="0">
                <a:solidFill>
                  <a:srgbClr val="1B365D"/>
                </a:solidFill>
                <a:highlight>
                  <a:srgbClr val="F2F2F2"/>
                </a:highlight>
                <a:latin typeface="Consolas" pitchFamily="34" charset="0"/>
                <a:ea typeface="Consolas" pitchFamily="34" charset="-122"/>
                <a:cs typeface="Consolas" pitchFamily="34" charset="-120"/>
              </a:rPr>
              <a:t>upgrade-report.md</a:t>
            </a:r>
            <a:endParaRPr lang="en-US" sz="1400" dirty="0"/>
          </a:p>
          <a:p>
            <a:pPr marL="284480" indent="-284480" algn="l">
              <a:lnSpc>
                <a:spcPct val="114000"/>
              </a:lnSpc>
              <a:buSzPct val="100000"/>
              <a:buChar char="•"/>
            </a:pPr>
            <a:r>
              <a:rPr lang="en-US" sz="1400" dirty="0">
                <a:solidFill>
                  <a:srgbClr val="1B365D"/>
                </a:solidFill>
                <a:latin typeface="Public Sans Light" pitchFamily="34" charset="0"/>
                <a:ea typeface="Public Sans Light" pitchFamily="34" charset="-122"/>
                <a:cs typeface="Public Sans Light" pitchFamily="34" charset="-120"/>
              </a:rPr>
              <a:t>Each prompt sends the agent to </a:t>
            </a:r>
            <a:r>
              <a:rPr lang="en-US" sz="1400" b="1" dirty="0">
                <a:solidFill>
                  <a:srgbClr val="1B365D"/>
                </a:solidFill>
                <a:latin typeface="Public Sans Bold" pitchFamily="34" charset="0"/>
                <a:ea typeface="Public Sans Bold" pitchFamily="34" charset="-122"/>
                <a:cs typeface="Public Sans Bold" pitchFamily="34" charset="-120"/>
              </a:rPr>
              <a:t>Microsoft Learn MCP</a:t>
            </a:r>
            <a:r>
              <a:rPr lang="en-US" sz="1400" dirty="0">
                <a:solidFill>
                  <a:srgbClr val="1B365D"/>
                </a:solidFill>
                <a:latin typeface="Public Sans Light" pitchFamily="34" charset="0"/>
                <a:ea typeface="Public Sans Light" pitchFamily="34" charset="-122"/>
                <a:cs typeface="Public Sans Light" pitchFamily="34" charset="-120"/>
              </a:rPr>
              <a:t> and to build, run and fix until clean</a:t>
            </a:r>
            <a:endParaRPr lang="en-US" sz="1400" dirty="0"/>
          </a:p>
        </p:txBody>
      </p:sp>
      <p:pic>
        <p:nvPicPr>
          <p:cNvPr id="5" name="Image 0" descr="preencoded.png"/>
          <p:cNvPicPr>
            <a:picLocks noChangeAspect="1"/>
          </p:cNvPicPr>
          <p:nvPr/>
        </p:nvPicPr>
        <p:blipFill>
          <a:blip r:embed="rId3"/>
          <a:stretch>
            <a:fillRect/>
          </a:stretch>
        </p:blipFill>
        <p:spPr>
          <a:xfrm>
            <a:off x="4625165" y="1115616"/>
            <a:ext cx="6565736" cy="3693319"/>
          </a:xfrm>
          <a:prstGeom prst="rect">
            <a:avLst/>
          </a:prstGeom>
        </p:spPr>
      </p:pic>
    </p:spTree>
    <p:extLst>
      <p:ext uri="{BB962C8B-B14F-4D97-AF65-F5344CB8AC3E}">
        <p14:creationId xmlns:p14="http://schemas.microsoft.com/office/powerpoint/2010/main" val="2562989455"/>
      </p:ext>
    </p:extLst>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7F5"/>
        </a:solidFill>
        <a:effectLst/>
      </p:bgPr>
    </p:bg>
    <p:spTree>
      <p:nvGrpSpPr>
        <p:cNvPr id="1" name=""/>
        <p:cNvGrpSpPr/>
        <p:nvPr/>
      </p:nvGrpSpPr>
      <p:grpSpPr/>
      <p:sp>
        <p:nvSpPr>
          <p:cNvPr id="2" name="gd-topics-text"/>
          <p:cNvSpPr txBox="1"/>
          <p:nvPr/>
        </p:nvSpPr>
        <p:spPr>
          <a:xfrm>
            <a:off x="692767" y="1150000"/>
            <a:ext cx="4900000" cy="3600000"/>
          </a:xfrm>
          <a:prstGeom prst="rect">
            <a:avLst/>
          </a:prstGeom>
          <a:noFill/>
        </p:spPr>
        <p:txBody>
          <a:bodyPr wrap="square" anchor="ctr" lIns="0" rIns="0" tIns="0" bIns="0">
            <a:spAutoFit/>
          </a:bodyPr>
          <a:lstStyle/>
          <a:p>
            <a:pPr>
              <a:lnSpc>
                <a:spcPct val="95000"/>
              </a:lnSpc>
              <a:spcBef>
                <a:spcPts val="0"/>
              </a:spcBef>
            </a:pPr>
            <a:r>
              <a:rPr sz="24000" b="1">
                <a:solidFill>
                  <a:srgbClr val="D4B483"/>
                </a:solidFill>
                <a:latin typeface="Montserrat"/>
              </a:rPr>
              <a:t>06</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gd-topics-text"/>
          <p:cNvSpPr txBox="1"/>
          <p:nvPr/>
        </p:nvSpPr>
        <p:spPr>
          <a:xfrm>
            <a:off x="6100000" y="1500000"/>
            <a:ext cx="5279233" cy="2900000"/>
          </a:xfrm>
          <a:prstGeom prst="rect">
            <a:avLst/>
          </a:prstGeom>
          <a:noFill/>
        </p:spPr>
        <p:txBody>
          <a:bodyPr wrap="square" anchor="ctr" lIns="0" rIns="0" tIns="0" bIns="0">
            <a:spAutoFit/>
          </a:bodyPr>
          <a:lstStyle/>
          <a:p>
            <a:pPr>
              <a:lnSpc>
                <a:spcPct val="95000"/>
              </a:lnSpc>
              <a:spcBef>
                <a:spcPts val="0"/>
              </a:spcBef>
            </a:pPr>
            <a:r>
              <a:rPr sz="4000" b="1">
                <a:solidFill>
                  <a:srgbClr val="2D3436"/>
                </a:solidFill>
                <a:latin typeface="Montserrat"/>
              </a:rPr>
              <a:t>Pull Requests &amp; Code Reviews</a:t>
            </a:r>
          </a:p>
          <a:p>
            <a:pPr>
              <a:lnSpc>
                <a:spcPct val="95000"/>
              </a:lnSpc>
              <a:spcBef>
                <a:spcPts val="1400"/>
              </a:spcBef>
            </a:pPr>
            <a:r>
              <a:rPr sz="2000" b="0">
                <a:solidFill>
                  <a:srgbClr val="595F67"/>
                </a:solidFill>
                <a:latin typeface="Poppins"/>
              </a:rPr>
              <a:t>PR descriptions and review feedback</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gd-topics-box"/>
          <p:cNvSpPr/>
          <p:nvPr/>
        </p:nvSpPr>
        <p:spPr>
          <a:xfrm>
            <a:off x="9925305"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gd-topics-text"/>
          <p:cNvSpPr txBox="1"/>
          <p:nvPr/>
        </p:nvSpPr>
        <p:spPr>
          <a:xfrm>
            <a:off x="812767" y="6290000"/>
            <a:ext cx="10566466" cy="300000"/>
          </a:xfrm>
          <a:prstGeom prst="rect">
            <a:avLst/>
          </a:prstGeom>
          <a:noFill/>
        </p:spPr>
        <p:txBody>
          <a:bodyPr wrap="square" anchor="t" lIns="0" rIns="0" tIns="0" bIns="0">
            <a:spAutoFit/>
          </a:bodyPr>
          <a:lstStyle/>
          <a:p>
            <a:pPr>
              <a:lnSpc>
                <a:spcPct val="95000"/>
              </a:lnSpc>
              <a:spcBef>
                <a:spcPts val="0"/>
              </a:spcBef>
            </a:pPr>
            <a:r>
              <a:rPr sz="1100" b="0">
                <a:solidFill>
                  <a:srgbClr val="595F67"/>
                </a:solidFill>
                <a:latin typeface="Poppins"/>
              </a:rPr>
              <a:t>Agentic Software Engineering using GitHub Copilot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1750516"/>
            <a:ext cx="6296860" cy="1181298"/>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0D0D0D"/>
                </a:solidFill>
                <a:latin typeface="Source Serif 4" pitchFamily="34" charset="0"/>
                <a:ea typeface="Source Serif 4" pitchFamily="34" charset="-122"/>
                <a:cs typeface="Source Serif 4" pitchFamily="34" charset="-120"/>
              </a:rPr>
              <a:t>Pull requests and code reviews</a:t>
            </a:r>
            <a:endParaRPr lang="en-US" sz="3700" dirty="0"/>
          </a:p>
        </p:txBody>
      </p:sp>
      <p:sp>
        <p:nvSpPr>
          <p:cNvPr id="4" name="Text 1"/>
          <p:cNvSpPr/>
          <p:nvPr/>
        </p:nvSpPr>
        <p:spPr>
          <a:xfrm>
            <a:off x="661475" y="3007420"/>
            <a:ext cx="6296860" cy="295275"/>
          </a:xfrm>
          <a:prstGeom prst="rect">
            <a:avLst/>
          </a:prstGeom>
          <a:noFill/>
          <a:ln/>
        </p:spPr>
        <p:txBody>
          <a:bodyPr wrap="none" lIns="0" tIns="0" rIns="0" bIns="0" rtlCol="0" anchor="t"/>
          <a:lstStyle/>
          <a:p>
            <a:pPr marL="0" indent="0" algn="l">
              <a:lnSpc>
                <a:spcPct val="104000"/>
              </a:lnSpc>
              <a:buNone/>
            </a:pPr>
            <a:r>
              <a:rPr lang="en-US" sz="1850" dirty="0">
                <a:solidFill>
                  <a:srgbClr val="0D0D0D"/>
                </a:solidFill>
                <a:latin typeface="Source Serif 4" pitchFamily="34" charset="0"/>
                <a:ea typeface="Source Serif 4" pitchFamily="34" charset="-122"/>
                <a:cs typeface="Source Serif 4" pitchFamily="34" charset="-120"/>
              </a:rPr>
              <a:t>Descriptions from the diff, feedback before merge</a:t>
            </a:r>
            <a:endParaRPr lang="en-US" sz="1850" dirty="0"/>
          </a:p>
        </p:txBody>
      </p:sp>
      <p:sp>
        <p:nvSpPr>
          <p:cNvPr id="5" name="Text 2"/>
          <p:cNvSpPr/>
          <p:nvPr/>
        </p:nvSpPr>
        <p:spPr>
          <a:xfrm>
            <a:off x="661475" y="3586163"/>
            <a:ext cx="6296860" cy="1521321"/>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Copilot drafts the PR description from the </a:t>
            </a:r>
            <a:r>
              <a:rPr lang="en-US" sz="1450" b="1" dirty="0">
                <a:solidFill>
                  <a:srgbClr val="1B365D"/>
                </a:solidFill>
                <a:latin typeface="Public Sans Bold" pitchFamily="34" charset="0"/>
                <a:ea typeface="Public Sans Bold" pitchFamily="34" charset="-122"/>
                <a:cs typeface="Public Sans Bold" pitchFamily="34" charset="-120"/>
              </a:rPr>
              <a:t>diff and commit history</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It summarizes what changed, why, and the impact</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In review it flags potential issues and suggests improvements</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It explains complex logic and recommends best practices before merge</a:t>
            </a:r>
            <a:endParaRPr lang="en-US" sz="1450" dirty="0"/>
          </a:p>
        </p:txBody>
      </p:sp>
    </p:spTree>
    <p:extLst>
      <p:ext uri="{BB962C8B-B14F-4D97-AF65-F5344CB8AC3E}">
        <p14:creationId xmlns:p14="http://schemas.microsoft.com/office/powerpoint/2010/main" val="107130252"/>
      </p:ext>
    </p:extLst>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7F5"/>
        </a:solidFill>
        <a:effectLst/>
      </p:bgPr>
    </p:bg>
    <p:spTree>
      <p:nvGrpSpPr>
        <p:cNvPr id="1" name=""/>
        <p:cNvGrpSpPr/>
        <p:nvPr/>
      </p:nvGrpSpPr>
      <p:grpSpPr/>
      <p:sp>
        <p:nvSpPr>
          <p:cNvPr id="2" name="gd-topics-text"/>
          <p:cNvSpPr txBox="1"/>
          <p:nvPr/>
        </p:nvSpPr>
        <p:spPr>
          <a:xfrm>
            <a:off x="692767" y="1150000"/>
            <a:ext cx="4900000" cy="3600000"/>
          </a:xfrm>
          <a:prstGeom prst="rect">
            <a:avLst/>
          </a:prstGeom>
          <a:noFill/>
        </p:spPr>
        <p:txBody>
          <a:bodyPr wrap="square" anchor="ctr" lIns="0" rIns="0" tIns="0" bIns="0">
            <a:spAutoFit/>
          </a:bodyPr>
          <a:lstStyle/>
          <a:p>
            <a:pPr>
              <a:lnSpc>
                <a:spcPct val="95000"/>
              </a:lnSpc>
              <a:spcBef>
                <a:spcPts val="0"/>
              </a:spcBef>
            </a:pPr>
            <a:r>
              <a:rPr sz="24000" b="1">
                <a:solidFill>
                  <a:srgbClr val="D4B483"/>
                </a:solidFill>
                <a:latin typeface="Montserrat"/>
              </a:rPr>
              <a:t>07</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gd-topics-text"/>
          <p:cNvSpPr txBox="1"/>
          <p:nvPr/>
        </p:nvSpPr>
        <p:spPr>
          <a:xfrm>
            <a:off x="6100000" y="1500000"/>
            <a:ext cx="5279233" cy="2900000"/>
          </a:xfrm>
          <a:prstGeom prst="rect">
            <a:avLst/>
          </a:prstGeom>
          <a:noFill/>
        </p:spPr>
        <p:txBody>
          <a:bodyPr wrap="square" anchor="ctr" lIns="0" rIns="0" tIns="0" bIns="0">
            <a:spAutoFit/>
          </a:bodyPr>
          <a:lstStyle/>
          <a:p>
            <a:pPr>
              <a:lnSpc>
                <a:spcPct val="95000"/>
              </a:lnSpc>
              <a:spcBef>
                <a:spcPts val="0"/>
              </a:spcBef>
            </a:pPr>
            <a:r>
              <a:rPr sz="4000" b="1">
                <a:solidFill>
                  <a:srgbClr val="2D3436"/>
                </a:solidFill>
                <a:latin typeface="Montserrat"/>
              </a:rPr>
              <a:t>Working in the Terminal</a:t>
            </a:r>
          </a:p>
          <a:p>
            <a:pPr>
              <a:lnSpc>
                <a:spcPct val="95000"/>
              </a:lnSpc>
              <a:spcBef>
                <a:spcPts val="1400"/>
              </a:spcBef>
            </a:pPr>
            <a:r>
              <a:rPr sz="2000" b="0">
                <a:solidFill>
                  <a:srgbClr val="595F67"/>
                </a:solidFill>
                <a:latin typeface="Poppins"/>
              </a:rPr>
              <a:t>Agent-aware output and compression</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gd-topics-box"/>
          <p:cNvSpPr/>
          <p:nvPr/>
        </p:nvSpPr>
        <p:spPr>
          <a:xfrm>
            <a:off x="10690366"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gd-topics-text"/>
          <p:cNvSpPr txBox="1"/>
          <p:nvPr/>
        </p:nvSpPr>
        <p:spPr>
          <a:xfrm>
            <a:off x="812767" y="6290000"/>
            <a:ext cx="10566466" cy="300000"/>
          </a:xfrm>
          <a:prstGeom prst="rect">
            <a:avLst/>
          </a:prstGeom>
          <a:noFill/>
        </p:spPr>
        <p:txBody>
          <a:bodyPr wrap="square" anchor="t" lIns="0" rIns="0" tIns="0" bIns="0">
            <a:spAutoFit/>
          </a:bodyPr>
          <a:lstStyle/>
          <a:p>
            <a:pPr>
              <a:lnSpc>
                <a:spcPct val="95000"/>
              </a:lnSpc>
              <a:spcBef>
                <a:spcPts val="0"/>
              </a:spcBef>
            </a:pPr>
            <a:r>
              <a:rPr sz="1100" b="0">
                <a:solidFill>
                  <a:srgbClr val="595F67"/>
                </a:solidFill>
                <a:latin typeface="Poppins"/>
              </a:rPr>
              <a:t>Agentic Software Engineering using GitHub Copilot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811609"/>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0D0D0D"/>
                </a:solidFill>
                <a:latin typeface="Source Serif 4" pitchFamily="34" charset="0"/>
                <a:ea typeface="Source Serif 4" pitchFamily="34" charset="-122"/>
                <a:cs typeface="Source Serif 4" pitchFamily="34" charset="-120"/>
              </a:rPr>
              <a:t>The VSCODE_AGENT variable</a:t>
            </a:r>
            <a:endParaRPr lang="en-US" sz="3700" dirty="0"/>
          </a:p>
        </p:txBody>
      </p:sp>
      <p:sp>
        <p:nvSpPr>
          <p:cNvPr id="3" name="Text 1"/>
          <p:cNvSpPr/>
          <p:nvPr/>
        </p:nvSpPr>
        <p:spPr>
          <a:xfrm>
            <a:off x="661475" y="1477863"/>
            <a:ext cx="10868745" cy="295275"/>
          </a:xfrm>
          <a:prstGeom prst="rect">
            <a:avLst/>
          </a:prstGeom>
          <a:noFill/>
          <a:ln/>
        </p:spPr>
        <p:txBody>
          <a:bodyPr wrap="none" lIns="0" tIns="0" rIns="0" bIns="0" rtlCol="0" anchor="t"/>
          <a:lstStyle/>
          <a:p>
            <a:pPr marL="0" indent="0" algn="l">
              <a:lnSpc>
                <a:spcPct val="104000"/>
              </a:lnSpc>
              <a:buNone/>
            </a:pPr>
            <a:r>
              <a:rPr lang="en-US" sz="1850" dirty="0">
                <a:solidFill>
                  <a:srgbClr val="0D0D0D"/>
                </a:solidFill>
                <a:latin typeface="Source Serif 4" pitchFamily="34" charset="0"/>
                <a:ea typeface="Source Serif 4" pitchFamily="34" charset="-122"/>
                <a:cs typeface="Source Serif 4" pitchFamily="34" charset="-120"/>
              </a:rPr>
              <a:t>Tools that know an agent is calling</a:t>
            </a:r>
            <a:endParaRPr lang="en-US" sz="1850" dirty="0"/>
          </a:p>
        </p:txBody>
      </p:sp>
      <p:sp>
        <p:nvSpPr>
          <p:cNvPr id="4" name="Text 2"/>
          <p:cNvSpPr/>
          <p:nvPr/>
        </p:nvSpPr>
        <p:spPr>
          <a:xfrm>
            <a:off x="661475" y="2226667"/>
            <a:ext cx="4070744" cy="2327870"/>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Copilot sets </a:t>
            </a:r>
            <a:r>
              <a:rPr lang="en-US" sz="1450" dirty="0">
                <a:solidFill>
                  <a:srgbClr val="1B365D"/>
                </a:solidFill>
                <a:highlight>
                  <a:srgbClr val="F2F2F2"/>
                </a:highlight>
                <a:latin typeface="Consolas" pitchFamily="34" charset="0"/>
                <a:ea typeface="Consolas" pitchFamily="34" charset="-122"/>
                <a:cs typeface="Consolas" pitchFamily="34" charset="-120"/>
              </a:rPr>
              <a:t>VSCODE_AGENT</a:t>
            </a:r>
            <a:r>
              <a:rPr lang="en-US" sz="1450" dirty="0">
                <a:solidFill>
                  <a:srgbClr val="1B365D"/>
                </a:solidFill>
                <a:latin typeface="Public Sans Light" pitchFamily="34" charset="0"/>
                <a:ea typeface="Public Sans Light" pitchFamily="34" charset="-122"/>
                <a:cs typeface="Public Sans Light" pitchFamily="34" charset="-120"/>
              </a:rPr>
              <a:t> in the environment of every command it runs</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A CLI that checks it can emit JSON or plain, parseable lines</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Spinners, ANSI colours and prompts are noise that can mislead the model</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Run </a:t>
            </a:r>
            <a:r>
              <a:rPr lang="en-US" sz="1450" dirty="0">
                <a:solidFill>
                  <a:srgbClr val="1B365D"/>
                </a:solidFill>
                <a:highlight>
                  <a:srgbClr val="F2F2F2"/>
                </a:highlight>
                <a:latin typeface="Consolas" pitchFamily="34" charset="0"/>
                <a:ea typeface="Consolas" pitchFamily="34" charset="-122"/>
                <a:cs typeface="Consolas" pitchFamily="34" charset="-120"/>
              </a:rPr>
              <a:t>echo $VSCODE_AGENT</a:t>
            </a:r>
            <a:r>
              <a:rPr lang="en-US" sz="1450" dirty="0">
                <a:solidFill>
                  <a:srgbClr val="1B365D"/>
                </a:solidFill>
                <a:latin typeface="Public Sans Light" pitchFamily="34" charset="0"/>
                <a:ea typeface="Public Sans Light" pitchFamily="34" charset="-122"/>
                <a:cs typeface="Public Sans Light" pitchFamily="34" charset="-120"/>
              </a:rPr>
              <a:t> yourself: empty, because you are not an agent</a:t>
            </a:r>
            <a:endParaRPr lang="en-US" sz="1450" dirty="0"/>
          </a:p>
        </p:txBody>
      </p:sp>
      <p:pic>
        <p:nvPicPr>
          <p:cNvPr id="5" name="Image 0" descr="preencoded.png"/>
          <p:cNvPicPr>
            <a:picLocks noChangeAspect="1"/>
          </p:cNvPicPr>
          <p:nvPr/>
        </p:nvPicPr>
        <p:blipFill>
          <a:blip r:embed="rId3"/>
          <a:stretch>
            <a:fillRect/>
          </a:stretch>
        </p:blipFill>
        <p:spPr>
          <a:xfrm>
            <a:off x="5199726" y="2269232"/>
            <a:ext cx="6336745" cy="3564434"/>
          </a:xfrm>
          <a:prstGeom prst="rect">
            <a:avLst/>
          </a:prstGeom>
        </p:spPr>
      </p:pic>
    </p:spTree>
    <p:extLst>
      <p:ext uri="{BB962C8B-B14F-4D97-AF65-F5344CB8AC3E}">
        <p14:creationId xmlns:p14="http://schemas.microsoft.com/office/powerpoint/2010/main" val="35103725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811609"/>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0D0D0D"/>
                </a:solidFill>
                <a:latin typeface="Source Serif 4" pitchFamily="34" charset="0"/>
                <a:ea typeface="Source Serif 4" pitchFamily="34" charset="-122"/>
                <a:cs typeface="Source Serif 4" pitchFamily="34" charset="-120"/>
              </a:rPr>
              <a:t>Terminal output compression</a:t>
            </a:r>
            <a:endParaRPr lang="en-US" sz="3700" dirty="0"/>
          </a:p>
        </p:txBody>
      </p:sp>
      <p:sp>
        <p:nvSpPr>
          <p:cNvPr id="3" name="Text 1"/>
          <p:cNvSpPr/>
          <p:nvPr/>
        </p:nvSpPr>
        <p:spPr>
          <a:xfrm>
            <a:off x="661475" y="1477863"/>
            <a:ext cx="10868745" cy="295275"/>
          </a:xfrm>
          <a:prstGeom prst="rect">
            <a:avLst/>
          </a:prstGeom>
          <a:noFill/>
          <a:ln/>
        </p:spPr>
        <p:txBody>
          <a:bodyPr wrap="none" lIns="0" tIns="0" rIns="0" bIns="0" rtlCol="0" anchor="t"/>
          <a:lstStyle/>
          <a:p>
            <a:pPr marL="0" indent="0" algn="l">
              <a:lnSpc>
                <a:spcPct val="104000"/>
              </a:lnSpc>
              <a:buNone/>
            </a:pPr>
            <a:r>
              <a:rPr lang="en-US" sz="1850" dirty="0">
                <a:solidFill>
                  <a:srgbClr val="0D0D0D"/>
                </a:solidFill>
                <a:latin typeface="Source Serif 4" pitchFamily="34" charset="0"/>
                <a:ea typeface="Source Serif 4" pitchFamily="34" charset="-122"/>
                <a:cs typeface="Source Serif 4" pitchFamily="34" charset="-120"/>
              </a:rPr>
              <a:t>Keep the signal, drop the padding</a:t>
            </a:r>
            <a:endParaRPr lang="en-US" sz="1850" dirty="0"/>
          </a:p>
        </p:txBody>
      </p:sp>
      <p:sp>
        <p:nvSpPr>
          <p:cNvPr id="4" name="Text 2"/>
          <p:cNvSpPr/>
          <p:nvPr/>
        </p:nvSpPr>
        <p:spPr>
          <a:xfrm>
            <a:off x="661475" y="2226667"/>
            <a:ext cx="4070744" cy="2315170"/>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Condenses verbose output </a:t>
            </a:r>
            <a:r>
              <a:rPr lang="en-US" sz="1450" b="1" dirty="0">
                <a:solidFill>
                  <a:srgbClr val="1B365D"/>
                </a:solidFill>
                <a:latin typeface="Public Sans Bold" pitchFamily="34" charset="0"/>
                <a:ea typeface="Public Sans Bold" pitchFamily="34" charset="-122"/>
                <a:cs typeface="Public Sans Bold" pitchFamily="34" charset="-120"/>
              </a:rPr>
              <a:t>before</a:t>
            </a:r>
            <a:r>
              <a:rPr lang="en-US" sz="1450" dirty="0">
                <a:solidFill>
                  <a:srgbClr val="1B365D"/>
                </a:solidFill>
                <a:latin typeface="Public Sans Light" pitchFamily="34" charset="0"/>
                <a:ea typeface="Public Sans Light" pitchFamily="34" charset="-122"/>
                <a:cs typeface="Public Sans Light" pitchFamily="34" charset="-120"/>
              </a:rPr>
              <a:t> it enters the context window</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Keeps failures, warnings and summary lines</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Drops progress bars, repeated success lines and download chatter</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No flags or redirects needed: the model sees a tight summary</a:t>
            </a:r>
            <a:endParaRPr lang="en-US" sz="1450" dirty="0"/>
          </a:p>
        </p:txBody>
      </p:sp>
      <p:pic>
        <p:nvPicPr>
          <p:cNvPr id="5" name="Image 0" descr="preencoded.png"/>
          <p:cNvPicPr>
            <a:picLocks noChangeAspect="1"/>
          </p:cNvPicPr>
          <p:nvPr/>
        </p:nvPicPr>
        <p:blipFill>
          <a:blip r:embed="rId3"/>
          <a:stretch>
            <a:fillRect/>
          </a:stretch>
        </p:blipFill>
        <p:spPr>
          <a:xfrm>
            <a:off x="5199726" y="2269232"/>
            <a:ext cx="6336745" cy="3564434"/>
          </a:xfrm>
          <a:prstGeom prst="rect">
            <a:avLst/>
          </a:prstGeom>
        </p:spPr>
      </p:pic>
    </p:spTree>
    <p:extLst>
      <p:ext uri="{BB962C8B-B14F-4D97-AF65-F5344CB8AC3E}">
        <p14:creationId xmlns:p14="http://schemas.microsoft.com/office/powerpoint/2010/main" val="36362061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2009577"/>
            <a:ext cx="6296860" cy="590649"/>
          </a:xfrm>
          <a:prstGeom prst="rect">
            <a:avLst/>
          </a:prstGeom>
          <a:noFill/>
          <a:ln/>
        </p:spPr>
        <p:txBody>
          <a:bodyPr wrap="none" lIns="0" tIns="0" rIns="0" bIns="0" rtlCol="0" anchor="t"/>
          <a:lstStyle/>
          <a:p>
            <a:pPr marL="0" indent="0" algn="l">
              <a:lnSpc>
                <a:spcPct val="104000"/>
              </a:lnSpc>
              <a:buNone/>
            </a:pPr>
            <a:r>
              <a:rPr lang="en-US" sz="3700" dirty="0">
                <a:solidFill>
                  <a:srgbClr val="0D0D0D"/>
                </a:solidFill>
                <a:latin typeface="Source Serif 4" pitchFamily="34" charset="0"/>
                <a:ea typeface="Source Serif 4" pitchFamily="34" charset="-122"/>
                <a:cs typeface="Source Serif 4" pitchFamily="34" charset="-120"/>
              </a:rPr>
              <a:t>Takeaways</a:t>
            </a:r>
            <a:endParaRPr lang="en-US" sz="3700" dirty="0"/>
          </a:p>
        </p:txBody>
      </p:sp>
      <p:sp>
        <p:nvSpPr>
          <p:cNvPr id="4" name="Text 1"/>
          <p:cNvSpPr/>
          <p:nvPr/>
        </p:nvSpPr>
        <p:spPr>
          <a:xfrm>
            <a:off x="661475" y="2675830"/>
            <a:ext cx="6296860" cy="295275"/>
          </a:xfrm>
          <a:prstGeom prst="rect">
            <a:avLst/>
          </a:prstGeom>
          <a:noFill/>
          <a:ln/>
        </p:spPr>
        <p:txBody>
          <a:bodyPr wrap="none" lIns="0" tIns="0" rIns="0" bIns="0" rtlCol="0" anchor="t"/>
          <a:lstStyle/>
          <a:p>
            <a:pPr marL="0" indent="0" algn="l">
              <a:lnSpc>
                <a:spcPct val="104000"/>
              </a:lnSpc>
              <a:buNone/>
            </a:pPr>
            <a:r>
              <a:rPr lang="en-US" sz="1850" dirty="0">
                <a:solidFill>
                  <a:srgbClr val="0D0D0D"/>
                </a:solidFill>
                <a:latin typeface="Source Serif 4" pitchFamily="34" charset="0"/>
                <a:ea typeface="Source Serif 4" pitchFamily="34" charset="-122"/>
                <a:cs typeface="Source Serif 4" pitchFamily="34" charset="-120"/>
              </a:rPr>
              <a:t>What to take into the next module</a:t>
            </a:r>
            <a:endParaRPr lang="en-US" sz="1850" dirty="0"/>
          </a:p>
        </p:txBody>
      </p:sp>
      <p:sp>
        <p:nvSpPr>
          <p:cNvPr id="5" name="Text 2"/>
          <p:cNvSpPr/>
          <p:nvPr/>
        </p:nvSpPr>
        <p:spPr>
          <a:xfrm>
            <a:off x="661475" y="3254573"/>
            <a:ext cx="6296860" cy="1593751"/>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Pick the model by context size, reasoning effort and cost</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Keep the prefix stable and the context focused</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Ground requests with slash commands and context variables</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Hand multi-step work to a local agent in Agent Mode</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Keep secrets out with </a:t>
            </a:r>
            <a:r>
              <a:rPr lang="en-US" sz="1450" dirty="0">
                <a:solidFill>
                  <a:srgbClr val="1B365D"/>
                </a:solidFill>
                <a:highlight>
                  <a:srgbClr val="F2F2F2"/>
                </a:highlight>
                <a:latin typeface="Consolas" pitchFamily="34" charset="0"/>
                <a:ea typeface="Consolas" pitchFamily="34" charset="-122"/>
                <a:cs typeface="Consolas" pitchFamily="34" charset="-120"/>
              </a:rPr>
              <a:t>.gitignore</a:t>
            </a:r>
            <a:r>
              <a:rPr lang="en-US" sz="1450" dirty="0">
                <a:solidFill>
                  <a:srgbClr val="1B365D"/>
                </a:solidFill>
                <a:latin typeface="Public Sans Light" pitchFamily="34" charset="0"/>
                <a:ea typeface="Public Sans Light" pitchFamily="34" charset="-122"/>
                <a:cs typeface="Public Sans Light" pitchFamily="34" charset="-120"/>
              </a:rPr>
              <a:t>, file patterns and custom instructions</a:t>
            </a:r>
            <a:endParaRPr lang="en-US" sz="1450" dirty="0"/>
          </a:p>
        </p:txBody>
      </p:sp>
    </p:spTree>
    <p:extLst>
      <p:ext uri="{BB962C8B-B14F-4D97-AF65-F5344CB8AC3E}">
        <p14:creationId xmlns:p14="http://schemas.microsoft.com/office/powerpoint/2010/main" val="35217436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1629</Words>
  <Application>Microsoft Office PowerPoint</Application>
  <PresentationFormat>Widescreen</PresentationFormat>
  <Paragraphs>200</Paragraphs>
  <Slides>25</Slides>
  <Notes>24</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25</vt:i4>
      </vt:variant>
    </vt:vector>
  </HeadingPairs>
  <TitlesOfParts>
    <vt:vector size="38" baseType="lpstr">
      <vt:lpstr>Calibri</vt:lpstr>
      <vt:lpstr>Source Serif 4</vt:lpstr>
      <vt:lpstr>IBM Plex Sans</vt:lpstr>
      <vt:lpstr>Public Sans Bold</vt:lpstr>
      <vt:lpstr>Montserrat</vt:lpstr>
      <vt:lpstr>IBM Plex Sans Light</vt:lpstr>
      <vt:lpstr>Poppins</vt:lpstr>
      <vt:lpstr>Public Sans Light</vt:lpstr>
      <vt:lpstr>Arial</vt:lpstr>
      <vt:lpstr>Wingdings</vt:lpstr>
      <vt:lpstr>Aptos</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Alexander Kastil</cp:lastModifiedBy>
  <cp:revision>4</cp:revision>
  <dcterms:created xsi:type="dcterms:W3CDTF">2026-09-22T20:00:12Z</dcterms:created>
  <dcterms:modified xsi:type="dcterms:W3CDTF">2026-09-22T20:07:37Z</dcterms:modified>
</cp:coreProperties>
</file>